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(public substrate validated): Encoder pretrained on DOGMA-seq (Mimitou 2021, 3 modalities: RNA + ATAC + Protein), cross-corpus validated at 73% on Calderon 2019. Adapter probed on Mimitou CRISPR perturbations at 0.57 (ADAPTER_RECOMMENDED verdict). This 5-block architecture is built and shipped.</a:t>
            </a:r>
          </a:p>
          <a:p>
            <a:r>
              <a:t>- Phase 1 (Q3 2026): QuRIE-seq Phase 1 delivers proprietary data — RNA + Protein + Phospho at all 5 timepoints (0/5/30/60/180), ATAC at t=0 and t=180. Architecture stays unchanged; new modality (phospho) plugs in as 4th encoder input head.</a:t>
            </a:r>
          </a:p>
          <a:p>
            <a:r>
              <a:t>- Phase 2 (2027): VDJ adds as 5th modality. Encoder grows under the same protocol family — no re-architecting required.</a:t>
            </a:r>
          </a:p>
          <a:p/>
          <a:p>
            <a:r>
              <a:t>### Technical glossary</a:t>
            </a:r>
          </a:p>
          <a:p>
            <a:r>
              <a:t>Foundation model — Large pretrained model providing general representations for many downstream tasks via fine-tuning or adapter layers. Our encoder is a foundation model for PBMC multi-omics.</a:t>
            </a:r>
          </a:p>
          <a:p/>
          <a:p>
            <a:r>
              <a:t>Frozen encoder — Encoder weights locked during downstream training. Only adapter and decoder heads update. Prevents encoder representations from drifting during task-specific training. Enforced by AIVC_GRAD_GUARD.</a:t>
            </a:r>
          </a:p>
          <a:p/>
          <a:p>
            <a:r>
              <a:t>Adapter — Small lightweight neural network layer trained on top of a frozen pretrained encoder. The encoder provides general representations; the adapter learns task-specific behavior. Approved by Stage 3 Part 1 verdict.</a:t>
            </a:r>
          </a:p>
          <a:p/>
          <a:p>
            <a:r>
              <a:t>Trimodal encoder — Encoder operating on 3 modalities (RNA + ATAC + Protein). "Trimodal" refers strictly to the Mimitou 2021 DOGMA-seq pretraining protocol. Today's deployed encoder is trimodal; Phase 1 expands to 4 modalities (+phospho) without retraining the backbone.</a:t>
            </a:r>
          </a:p>
          <a:p/>
          <a:p>
            <a:r>
              <a:t>Latent space 256-D — The 256-dimensional vector representation produced by the encoder. Each cell maps to a point in this space. Smaller than typical transformer hidden states because multi-omics input is more constrained than natural language.</a:t>
            </a:r>
          </a:p>
          <a:p/>
          <a:p>
            <a:r>
              <a:t>Neural ODE (Neural Ordinary Differential Equation) — Continuous-time dynamics model. Instead of discrete time steps, the latent state evolves according to a learned differential equation. Handles irregular timepoint spacing (our 0/5/30/60/180 min sampling has unequal gaps) natively.</a:t>
            </a:r>
          </a:p>
          <a:p/>
          <a:p>
            <a:r>
              <a:t>4-arm decomposed readout — Decoder architecture that decomposes a perturbed cell's predicted state as h_base + Δ_stim + Δ_inh + Δ_synergy. The synergy arm captures the non-additive part of combinations — enables zero-shot prediction of unseen combinations.</a:t>
            </a:r>
          </a:p>
          <a:p/>
          <a:p>
            <a:r>
              <a:t>DOGMA-seq — Triple-modality single-cell method measuring RNA + ATAC + surface protein on the same cell. From Mimitou 2021 (Nature Biotechnology). Source of our encoder pretraining data.</a:t>
            </a:r>
          </a:p>
          <a:p/>
          <a:p>
            <a:r>
              <a:t>Calderon 2019 — Published PBMC dataset under stimulation, used as our cross-corpus hold-out test for the encoder. 73% pseudo-bulk centroid-NN accuracy demonstrates cross-corpus generalization.</a:t>
            </a:r>
          </a:p>
          <a:p/>
          <a:p>
            <a:r>
              <a:t>Pathway-aware output — Decoder produces outputs aligned to known biological pathways (GO + Reactome). Phase 1 phospho data + ATAC priors expand the pathway dictionary.</a:t>
            </a:r>
          </a:p>
          <a:p/>
          <a:p>
            <a:r>
              <a:t>### Diligence Q&amp;A</a:t>
            </a:r>
          </a:p>
          <a:p/>
          <a:p>
            <a:r>
              <a:t>If asked: "Why one model for all PBMC cell types?"</a:t>
            </a:r>
          </a:p>
          <a:p>
            <a:r>
              <a:t>The encoder is trained on cell-type-mixed multi-omics data and represents each cell in a shared 256-D latent space. Cell type emerges as structure within that space (validated by the 73% Calderon cross-corpus result on 5-class lineage classification). One unified model means downstream tasks (perturbation prediction, temporal evolution, causal inference) operate on a single coherent substrate rather than per-cell-type specialized models. Cheaper to maintain, more cross-type generalization.</a:t>
            </a:r>
          </a:p>
          <a:p/>
          <a:p>
            <a:r>
              <a:t>If asked: "Where does the model see phospho if the encoder was pretrained on RNA + ATAC + Protein only?"</a:t>
            </a:r>
          </a:p>
          <a:p>
            <a:r>
              <a:t>Phospho enters the architecture in Phase 1 (Q3 2026) as a new input head added to the encoder. The pretrained RNA + ATAC + Protein backbone stays frozen (AIVC_GRAD_GUARD enforced) while a phospho-specific encoder layer fits to the QuRIE-seq Phase 1 data. This is the same adapter-strategy pattern that the Stage 3 Part 1 verdict approved. Phase 2 extends similarly with VDJ.</a:t>
            </a:r>
          </a:p>
          <a:p/>
          <a:p>
            <a:r>
              <a:t>If asked: "What's pre-registered about this?"</a:t>
            </a:r>
          </a:p>
          <a:p>
            <a:r>
              <a:t>The Stage 3 evaluation methodology was committed in writing before running the evals — cross-corpus pseudo-bulk centroid-NN as the eval method, threshold bands locked, no post-hoc threshold adjustment. The 73% Calderon result and 0.57 Mimitou CRISPR result both came from pre-registered evals. Stage 3b (BTK+JAK demo) and Stage 3c (causal architecture) also have pre-registered thresholds in architecture spec v1.1.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(shipped evidence): Encoder trained on DOGMA-seq, 73% Calderon cross-corpus accuracy (pre-registered eval, pseudo-bulk centroid-NN). Three modalities: RNA + ATAC + Protein. Public data, public benchmarks. The 73% on the right side of the slide is the shipped result.</a:t>
            </a:r>
          </a:p>
          <a:p>
            <a:r>
              <a:t>- Phase 1 (Q3 2026 — QuRIE-seq lands): Adds phospho as 4th modality (integral to QuRIE-seq). The encoder grows a phospho input head; backbone stays frozen. RNA + Protein + Phospho at 5 timepoints; ATAC at t=0 and t=180 (chromatin slow-varying).</a:t>
            </a:r>
          </a:p>
          <a:p>
            <a:r>
              <a:t>- Phase 2 (2027 — scale + VDJ): Adds VDJ as 5th modality + scale to 20 donors. Same protocol family, same encoder backbone, new input head only.</a:t>
            </a:r>
          </a:p>
          <a:p/>
          <a:p>
            <a:r>
              <a:t>### Technical glossary</a:t>
            </a:r>
          </a:p>
          <a:p>
            <a:r>
              <a:t>Multi-omics encoder — Neural network that takes multi-modality single-cell measurements (RNA + ATAC + Protein, growing to +Phospho +VDJ) and produces a unified vector representation in a shared 256-D latent space.</a:t>
            </a:r>
          </a:p>
          <a:p/>
          <a:p>
            <a:r>
              <a:t>Contrastive multi-omics fusion — The encoder learns to align representations of the same cell across modalities (positive pairs) while differing across cells (negative pairs). Multi-modal contrastive learning produces the 256-D latent.</a:t>
            </a:r>
          </a:p>
          <a:p/>
          <a:p>
            <a:r>
              <a:t>Latent space 256-D — The 256-dimensional vector representation produced by the encoder. Dimensionality chosen to balance expressiveness (capacity to represent cell state) with computational cost (downstream inference speed, GPU memory).</a:t>
            </a:r>
          </a:p>
          <a:p/>
          <a:p>
            <a:r>
              <a:t>Pseudo-bulk centroid-NN — Cross-corpus evaluation method. Aggregate single cells by cell-type label within each dataset to produce one centroid vector per cell type (pseudo-bulk). Then for each held-out test centroid, find the nearest centroid in the training pool by cosine distance (centroid-NN). Accuracy = fraction where the match is the same label.</a:t>
            </a:r>
          </a:p>
          <a:p/>
          <a:p>
            <a:r>
              <a:t>73% Calderon (cross-corpus) — Pseudo-bulk centroid-NN accuracy on 5-class PBMC lineage classification (B / T / NK / monocyte / DC) when training on Mimitou DOGMA-seq and evaluating on independently-generated Calderon 2019. Chance baseline is 20%. The 73% = 3.65× chance.</a:t>
            </a:r>
          </a:p>
          <a:p/>
          <a:p>
            <a:r>
              <a:t>Cross-corpus generalization — Property of a model trained on one dataset generalizing to a different, independently-generated dataset without retraining. Tests for spurious dataset-specific features that would inflate within-dataset accuracy.</a:t>
            </a:r>
          </a:p>
          <a:p/>
          <a:p>
            <a:r>
              <a:t>Pre-registered evaluation — Eval methodology, metric, and thresholds committed in writing before running the eval. Prevents post-hoc cherry-picking. Our 73% result was pre-registered before we ran it.</a:t>
            </a:r>
          </a:p>
          <a:p/>
          <a:p>
            <a:r>
              <a:t>Frozen encoder + adapter — After encoder pretraining, encoder weights are locked. Downstream tasks (perturbation prediction, etc.) train a small adapter on top instead of fine-tuning the encoder. Cheaper, preserves general representations.</a:t>
            </a:r>
          </a:p>
          <a:p/>
          <a:p>
            <a:r>
              <a:t>AIVC_GRAD_GUARD — Environment variable flag (AIVC_GRAD_GUARD=1) that blocks gradient flow into the encoder during downstream training. Enforces frozen-encoder discipline mechanically. Set in all production training runs after Stage 3 Part 1 verdict.</a:t>
            </a:r>
          </a:p>
          <a:p/>
          <a:p>
            <a:r>
              <a:t>DOGMA-seq — Single-cell method measuring RNA + ATAC + surface protein on the same cell. From Mimitou 2021 (Nature Biotechnology). Our encoder pretraining dataset.</a:t>
            </a:r>
          </a:p>
          <a:p/>
          <a:p>
            <a:r>
              <a:t>ASAP-seq — Single-cell method measuring ATAC + surface proteins simultaneously. Variant of CITE-seq. Mimitou's CRISPR sub-study used ASAP-seq with hashtag-oligo-encoded CRISPR perturbations.</a:t>
            </a:r>
          </a:p>
          <a:p/>
          <a:p>
            <a:r>
              <a:t>### Diligence Q&amp;A</a:t>
            </a:r>
          </a:p>
          <a:p/>
          <a:p>
            <a:r>
              <a:t>If asked: "Why DOGMA-seq specifically?"</a:t>
            </a:r>
          </a:p>
          <a:p/>
          <a:p>
            <a:r>
              <a:t>DOGMA-seq is the first published protocol that measures RNA, chromatin accessibility, and surface protein from the same single cell. Mimitou published it in 2021 in Nature Biotechnology. We chose it as our pretraining substrate because it's the only public dataset combining these three modalities in primary human PBMCs at scale. It's also the source of our perturbation training data (ASAP-seq CRISPR sub-study from the same lab) — meaning the encoder and the perturbation adapter both come from a coherent technical and biological context.</a:t>
            </a:r>
          </a:p>
          <a:p/>
          <a:p>
            <a:r>
              <a:t>If asked: "How does it perform per cell type?"</a:t>
            </a:r>
          </a:p>
          <a:p/>
          <a:p>
            <a:r>
              <a:t>Overall 73% across the major PBMC lineages. T cells, NK, monocytes, and DCs are all in the 70-85% range. B cells underperform at 18% — but our analysis (Stage 3 Part 1 Report 5) shows this is a cross-corpus stimulation-protocol artifact, not an encoder defect. Encoder silhouette score on Calderon B cells is 0.354, higher than CD4 T cells at 0.129, which proves the encoder is finding the B cells correctly in latent space. The misclassifications go to DC and NK — i.e., the model respects lineage hierarchy. We diagnosed this transparently and the architecture doesn't depend on closing the gap before QurieSeq Phase 1 lands.</a:t>
            </a:r>
          </a:p>
          <a:p/>
          <a:p>
            <a:r>
              <a:t>If asked: "Why aren't phospho and VDJ in the validation?"</a:t>
            </a:r>
          </a:p>
          <a:p/>
          <a:p>
            <a:r>
              <a:t>Phospho doesn't exist in public PBMC data — it's QuRIE-seq's proprietary modality, our moat. Phospho is integral to QuRIE-seq and available from Phase 1 (Q3 2026). VDJ is the modality being deferred to QurieSeq Phase 2 per Thiago's wet-lab plan. The encoder architecture is modality-extensible by design — Phase 1 phospho and Phase 2 VDJ slot in without retraining the base encoder.</a:t>
            </a:r>
          </a:p>
          <a:p/>
          <a:p>
            <a:r>
              <a:t>If asked: "Why pseudo-bulk centroid-NN?"</a:t>
            </a:r>
          </a:p>
          <a:p/>
          <a:p>
            <a:r>
              <a:t>Pseudo-bulk centroid-NN is a published cross-corpus methodology that controls for technical batch effects between studies — exactly the right test for whether the encoder learned biology vs. dataset artifacts. We pre-registered it before running the eval to avoid post-hoc cherry-picking. The methodology doc is in our repo (docs/eval_methodology/cross_corpus_pseudobulk_centroid_nn.md).</a:t>
            </a:r>
          </a:p>
          <a:p/>
          <a:p>
            <a:r>
              <a:t>If asked: "Phospho is in Phase 1? I thought it was Phase 2."</a:t>
            </a:r>
          </a:p>
          <a:p/>
          <a:p>
            <a:r>
              <a:t>Phospho is integral to the QuRIE-seq assay — every QuRIE-seq run generates phospho data alongside RNA and protein. The earlier framing of "phospho deferred to Phase 2" was specifically about public training data — no public dataset has phospho on PBMCs, so we deferred phospho coverage in our public-data layer strategy. But the QuRIE-seq Phase 1 wet-lab generation in Q3 2026 measures phospho directly. So phospho first becomes available to us in Phase 1, not Phase 2.</a:t>
            </a:r>
          </a:p>
          <a:p/>
          <a:p>
            <a:r>
              <a:t>If asked: "How does the encoder generalize to phospho if it was only trained on RNA + ATAC + Protein?"</a:t>
            </a:r>
          </a:p>
          <a:p/>
          <a:p>
            <a:r>
              <a:t>The encoder's architecture supports modality extension by design — adding a modality means adding an input head, not retraining from scratch. During Phase 1 integration (Q4 2026), the phospho input head is fit while the RNA/ATAC/Protein representation backbone stays frozen (AIVC_GRAD_GUARD enforced). This is the same adapter-strategy pattern that the Stage 3 Part 1 verdict approved. The 73% cross-corpus result establishes that the backbone representations transfer across datasets; phospho integration tests whether they accommodate a new modality of biological information.</a:t>
            </a:r>
          </a:p>
          <a:p/>
          <a:p>
            <a:r>
              <a:t>If asked: "What's pseudo-bulk centroid-NN?"</a:t>
            </a:r>
          </a:p>
          <a:p/>
          <a:p>
            <a:r>
              <a:t>Cross-corpus validation method. Pseudo-bulk: aggregate single cells by cell-type label within each dataset to produce one centroid vector per cell type. Centroid-NN: for each held-out test centroid (from Calderon), find the nearest centroid in the training pool (from DOGMA). Accuracy = fraction where the nearest neighbor is the same cell type. 73% on PBMC major lineages (B / T / NK / monocyte / DC) is strong cross-corpus generalization — random would be 20% for 5 classes.</a:t>
            </a:r>
          </a:p>
          <a:p/>
          <a:p>
            <a:r>
              <a:t>If asked: "What's AIVC_GRAD_GUARD?"</a:t>
            </a:r>
          </a:p>
          <a:p/>
          <a:p>
            <a:r>
              <a:t>An environment-variable-controlled gradient-blocking mechanism in our training code. When AIVC_GRAD_GUARD=1, the encoder's pretrained weights are frozen during downstream training — adapter and readout heads update, encoder doesn't. This enforces the adapter strategy mechanically rather than relying on training-script discipline. The flag is set in all production training runs after Stage 3 Part 1's ADAPTER_RECOMMENDED verdict.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(architecture shipped): 4-arm decomposed readout is implemented and trained on Mimitou CRISPR data. CD3E + CD4 single perturbations train the synergy head; CD3E×CD4 double-knockout is the held-out test for compositional generalization.</a:t>
            </a:r>
          </a:p>
          <a:p>
            <a:r>
              <a:t>- Phase 1 (Q3 2026): Same 4-arm readout trains on QuRIE-seq Phase 1 perturbation panel. BTK alone + JAK alone train the inhibitor arms; BTK+JAK combo is the held-out test for the Stage 3b demo. Synergy head's zero-arm constraint becomes the load-bearing claim.</a:t>
            </a:r>
          </a:p>
          <a:p>
            <a:r>
              <a:t>- Phase 2 (2027): 4-arm readout extends to additional inhibitor combinations and donor-level cross-validation across the 20-donor scale.</a:t>
            </a:r>
          </a:p>
          <a:p/>
          <a:p>
            <a:r>
              <a:t>### Technical glossary</a:t>
            </a:r>
          </a:p>
          <a:p>
            <a:r>
              <a:t>Decomposed readout (4-arm) — Decoder architecture: predicted response = h_base + 𝟙[s]·Δ_stim + 𝟙[i]·Δ_inh + 𝟙[s∧i]·Δ_synergy. Four learned heads, parallel branches, summed at output.</a:t>
            </a:r>
          </a:p>
          <a:p/>
          <a:p>
            <a:r>
              <a:t>Synergy — When the combined effect of two perturbations exceeds the sum of their individual effects: Δ_combo &gt; Δ_drug1 + Δ_drug2. The Δ_synergy arm captures this directly.</a:t>
            </a:r>
          </a:p>
          <a:p/>
          <a:p>
            <a:r>
              <a:t>Zero-arm constraint — A penalty (L2, λ=1.0) forcing the synergy head to output zero when stimulus or inhibitor is absent. Forces the synergy head to learn ONLY the non-additive correction.</a:t>
            </a:r>
          </a:p>
          <a:p/>
          <a:p>
            <a:r>
              <a:t>Compositional generalization — Model's ability to predict combinations from singletons. Train on BTK alone + JAK alone, predict BTK+JAK combo response.</a:t>
            </a:r>
          </a:p>
          <a:p/>
          <a:p>
            <a:r>
              <a:t>Indicator function 𝟙[s] (Iverson bracket) — 𝟙[s] = 1 if condition s is true, 0 if false. Switches arms on/off based on experimental condition.</a:t>
            </a:r>
          </a:p>
          <a:p/>
          <a:p>
            <a:r>
              <a:t>Δ (Delta) — "Change" or "difference". Δ_stim = stimulus contribution, Δ_inh = inhibitor contribution, Δ_synergy = synergy correction beyond additive.</a:t>
            </a:r>
          </a:p>
          <a:p/>
          <a:p>
            <a:r>
              <a:t>L2 regularization — Penalty on the sum of squared weight values. Used at λ=1.0 to enforce the zero-arm constraint on the synergy head when single arms are absent.</a:t>
            </a:r>
          </a:p>
          <a:p/>
          <a:p>
            <a:r>
              <a:t>Perturbation embedding — Vector representation of a perturbation context (drug, concentration, duration). Combined with cell latent state to predict response.</a:t>
            </a:r>
          </a:p>
          <a:p/>
          <a:p>
            <a:r>
              <a:t>### Equations &amp; notation</a:t>
            </a:r>
          </a:p>
          <a:p/>
          <a:p>
            <a:r>
              <a:t>Reading the decomposed readout equation:</a:t>
            </a:r>
          </a:p>
          <a:p>
            <a:r>
              <a:t>``</a:t>
            </a:r>
          </a:p>
          <a:p>
            <a:r>
              <a:t>ŷ(z, s, i, t) = h_base(z, t)</a:t>
            </a:r>
          </a:p>
          <a:p>
            <a:r>
              <a:t>              + 𝟙[s]·Δ_stim(z, s, t)</a:t>
            </a:r>
          </a:p>
          <a:p>
            <a:r>
              <a:t>              + 𝟙[i]·Δ_inh(z, i, t)</a:t>
            </a:r>
          </a:p>
          <a:p>
            <a:r>
              <a:t>              + 𝟙[s∧i]·Δ_synergy(z, s, i, t)</a:t>
            </a:r>
          </a:p>
          <a:p>
            <a:r>
              <a:t>`</a:t>
            </a:r>
          </a:p>
          <a:p/>
          <a:p>
            <a:r>
              <a:t>- ŷ (y-hat) = predicted response</a:t>
            </a:r>
          </a:p>
          <a:p>
            <a:r>
              <a:t>- z = cell latent state (from encoder)</a:t>
            </a:r>
          </a:p>
          <a:p>
            <a:r>
              <a:t>- s = stimulus identifier (vector)</a:t>
            </a:r>
          </a:p>
          <a:p>
            <a:r>
              <a:t>- i = inhibitor identifier (vector)</a:t>
            </a:r>
          </a:p>
          <a:p>
            <a:r>
              <a:t>- t = timepoint</a:t>
            </a:r>
          </a:p>
          <a:p>
            <a:r>
              <a:t>- h_base(z, t) = vehicle-control baseline at time t</a:t>
            </a:r>
          </a:p>
          <a:p>
            <a:r>
              <a:t>- 𝟙[s] = 1 if stimulus s is present, 0 otherwise (Iverson bracket / indicator)</a:t>
            </a:r>
          </a:p>
          <a:p>
            <a:r>
              <a:t>- Δ_stim(z, s, t) = additional response contributed by stimulus alone</a:t>
            </a:r>
          </a:p>
          <a:p>
            <a:r>
              <a:t>- Δ_inh(z, i, t) = additional response contributed by inhibitor alone</a:t>
            </a:r>
          </a:p>
          <a:p>
            <a:r>
              <a:t>- Δ_synergy(z, s, i, t) = non-additive synergy correction when both present</a:t>
            </a:r>
          </a:p>
          <a:p>
            <a:r>
              <a:t>- s ∧ i = "both s and i present" (logical AND)</a:t>
            </a:r>
          </a:p>
          <a:p/>
          <a:p>
            <a:r>
              <a:t>Architectural commitment: synergy head outputs zero when either single arm is absent (𝟙[s∧i] = 0), forced by L2 penalty during training. This means the synergy head can only learn the non-additive part — making zero-shot combination prediction possible.</a:t>
            </a:r>
          </a:p>
          <a:p/>
          <a:p>
            <a:r>
              <a:t>### Diligence Q&amp;A</a:t>
            </a:r>
          </a:p>
          <a:p/>
          <a:p>
            <a:r>
              <a:t>If asked: "Why not just train a single conditional head?"</a:t>
            </a:r>
          </a:p>
          <a:p/>
          <a:p>
            <a:r>
              <a:t>Mathematically you could — a single head conditioned on (cell, stim, inh) can fit any training data. But at inference, it has no inductive bias for unseen combinations. The architecture would memorize the training combinations rather than learn the additive structure of combinatorial biology. Our decomposition forces the model to learn the non-additive part separately, which is precisely what zero-shot synergy prediction requires.</a:t>
            </a:r>
          </a:p>
          <a:p/>
          <a:p>
            <a:r>
              <a:t>If asked: "How do you know the zero-arm constraint isn't too strict?"</a:t>
            </a:r>
          </a:p>
          <a:p/>
          <a:p>
            <a:r>
              <a:t>Two safety nets. First, the constraint is a soft penalty (L2 with λ=1.0), not a hard projection — the model has some slack if biological signal demands it. Second, we have a documented downgrade path: if Stage 3a training shows the constraint is too rigid, we drop λ to 0.3 or 0.5 and rerun. This decision is pre-registered in the architecture spec (§7, risk #3).</a:t>
            </a:r>
          </a:p>
          <a:p/>
          <a:p>
            <a:r>
              <a:t>If asked: "What if the synergy head learns the trivial 'mean of singles' solution?"</a:t>
            </a:r>
          </a:p>
          <a:p/>
          <a:p>
            <a:r>
              <a:t>That's the failure mode we explicitly test for. If Stage 3a zero-shot synergy accuracy comes in near 0.55 (matching the null baseline h_base + Δ_stim + Δ_inh with Δ_synergy=0), it means the synergy head collapsed to triviality. The pre-registered remediation: increase λ_zero or move to a hard projection constraint. Banked in docs/specs/stage3_part2_architecture_proposal_2026_05_06.md` §7.</a:t>
            </a:r>
          </a:p>
          <a:p/>
          <a:p>
            <a:r>
              <a:t>If asked: "Has this architecture been published before?"</a:t>
            </a:r>
          </a:p>
          <a:p/>
          <a:p>
            <a:r>
              <a:t>The decomposition is inspired by causal inference (potential outcomes framework: Y(0), Y(1), Y(1,1) interactions) applied to deep learning readout heads. The specific 4-arm + zero-arm constraint formulation is our architectural choice for perturbation biology — it's documented in our spec and validated on Mimitou CRISPR data with 0.68 accuracy on held-out double-KO cells.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Neural ODE temporal backbone implemented and trained on Mimitou CRISPR + DOGMA-seq data. Continuous-time state evolution validated architecturally — irregular timepoints handled natively.</a:t>
            </a:r>
          </a:p>
          <a:p>
            <a:r>
              <a:t>- Phase 1 (Q3 2026): 5-timepoint Phase 1 design (0/5/30/60/180 min) gives Neural ODE 5 anchor points per donor per perturbation. 5-minute timepoint captures phospho early-signaling (phospho is integral to QuRIE-seq Phase 1) — directly populates the early-signaling window with real biology.</a:t>
            </a:r>
          </a:p>
          <a:p>
            <a:r>
              <a:t>- Phase 2 (2027): 20-donor scale gives cross-donor temporal validation. Same Neural ODE architecture, more donors, no re-architecting.</a:t>
            </a:r>
          </a:p>
          <a:p/>
          <a:p>
            <a:r>
              <a:t>### Technical glossary</a:t>
            </a:r>
          </a:p>
          <a:p>
            <a:r>
              <a:t>Neural ODE (Neural Ordinary Differential Equation) — Continuous-time dynamics model. Instead of discrete time steps (like RNN/transformer), the latent state evolves according to a learned differential equation dz/dt = f_θ(z, perturbation, t). Time is a first-class input, not a discrete index.</a:t>
            </a:r>
          </a:p>
          <a:p/>
          <a:p>
            <a:r>
              <a:t>Latent SDE (Latent Stochastic Differential Equation) — Probabilistic temporal model where latent state evolves with both deterministic drift and stochastic diffusion. Architecture spec v1.1 §7.1 documents this as fallback if Neural ODE proves insufficient for biological noise levels.</a:t>
            </a:r>
          </a:p>
          <a:p/>
          <a:p>
            <a:r>
              <a:t>Continuous-time — Time is a real-valued input variable, not a discrete step. Allows querying the model at any timepoint (e.g., predict state at t=12.5 min) without retraining.</a:t>
            </a:r>
          </a:p>
          <a:p/>
          <a:p>
            <a:r>
              <a:t>Irregular timepoint spacing — Sampling times that don't divide evenly. Our 0/5/30/60/180 min has gaps of 5, 25, 30, 120 minutes — radically unequal. Neural ODE handles this natively.</a:t>
            </a:r>
          </a:p>
          <a:p/>
          <a:p>
            <a:r>
              <a:t>5-minute timepoint — Captures early signaling biology (phospho-active, RNA still latent). In QuRIE-seq Phase 1, this gives the encoder a "what's already happening" signal with real phospho-proteomics measurement (phospho is integral to QuRIE-seq).</a:t>
            </a:r>
          </a:p>
          <a:p/>
          <a:p>
            <a:r>
              <a:t>30-minute timepoint — Captures transcriptional onset. RNA changes are detectable; phospho signal is decaying or saturating.</a:t>
            </a:r>
          </a:p>
          <a:p/>
          <a:p>
            <a:r>
              <a:t>180-minute timepoint — Captures stable response phenotype. Both transcription and chromatin remodeling visible. ATAC measurement only at t=0 and t=180 in Phase 1 because chromatin changes slowly relative to other modalities.</a:t>
            </a:r>
          </a:p>
          <a:p/>
          <a:p>
            <a:r>
              <a:t>RSSM (Recurrent State Space Model) — Considered as alternative temporal architecture, rejected because discrete time steps make irregular sampling clunky.</a:t>
            </a:r>
          </a:p>
          <a:p/>
          <a:p>
            <a:r>
              <a:t>Transformer-over-timesteps — Considered as alternative, rejected because attention over 5 timepoints is overkill and the architecture doesn't naturally handle the temporal causality direction.</a:t>
            </a:r>
          </a:p>
          <a:p/>
          <a:p>
            <a:r>
              <a:t>### Diligence Q&amp;A</a:t>
            </a:r>
          </a:p>
          <a:p/>
          <a:p>
            <a:r>
              <a:t>If asked: "Why not RNN or Transformer for time?"</a:t>
            </a:r>
          </a:p>
          <a:p/>
          <a:p>
            <a:r>
              <a:t>Transformers and RNNs are discrete — they assume fixed timesteps. If we sampled at 0 and 5 minutes, then a Transformer effectively concatenates the two as adjacent tokens. That loses the information that 5 minutes is fast relative to the next gap (5→30 = 25 min) and very fast relative to 60→180 (120 min). Neural ODE represents the actual continuous trajectory, so non-uniform spacing is handled by integration, not by architectural workarounds.</a:t>
            </a:r>
          </a:p>
          <a:p/>
          <a:p>
            <a:r>
              <a:t>If asked: "Why is 5 minutes interesting if RNA changes slowly?"</a:t>
            </a:r>
          </a:p>
          <a:p/>
          <a:p>
            <a:r>
              <a:t>Five minutes is where early signaling lives — phosphorylation cascades, second messengers, kinase activation. The phospho readouts from QuRIE-seq Phase 1 (Q3 2026) populate that window with real biology — phospho is integral to QuRIE-seq, available from the first proprietary wet-lab batch. The 5-minute sample at the phospho level gives the encoder direct mechanistic signal in the window before transcriptional changes propagate.</a:t>
            </a:r>
          </a:p>
          <a:p/>
          <a:p>
            <a:r>
              <a:t>If asked: "What if Neural ODE training diverges?"</a:t>
            </a:r>
          </a:p>
          <a:p/>
          <a:p>
            <a:r>
              <a:t>We have a documented fallback to latent SDE — same f_θ drift function reused, zero-initialized diffusion term, switching procedure pre-registered in the architecture spec. Trigger conditions include NaN loss frequency, validation plateau, and Jacobian spectral analysis. We don't need to discover that ODE failed mid-Stage-3b and panic — the fallback is planned and authorized.</a:t>
            </a:r>
          </a:p>
          <a:p/>
          <a:p>
            <a:r>
              <a:t>If asked: "Have you trained a Neural ODE on real biological data yet?"</a:t>
            </a:r>
          </a:p>
          <a:p/>
          <a:p>
            <a:r>
              <a:t>Not yet — Stage 3a (current work) is the adapter on Mimitou single-endpoint CRISPR data. Neural ODE comes online in Stage 3b (Q3 2026) when QurieSeq Phase 1 time-course data lands. Until then, we're planning in-silico temporal sanity checks using synthetic dynamics to confirm ODE convergence and trajectory recovery before real data arrives. This de-risks the July go-live.</a:t>
            </a:r>
          </a:p>
          <a:p/>
          <a:p>
            <a:r>
              <a:t>If asked: "How does perturbation enter the ODE?"</a:t>
            </a:r>
          </a:p>
          <a:p/>
          <a:p>
            <a:r>
              <a:t>The drift function f_θ(z, p, t) takes the perturbation embedding p (stimulus and/or inhibitor) as input. Different perturbations produce different trajectory curvatures in latent space. The decomposed readout (slide A3) handles how perturbation effects compose; the Neural ODE handles how they evolve over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(spec-locked, validation pending): Stage 3c causal architecture is committed in architecture spec v1.1 (v1.2 §X causal-layer extension pending). Neumann propagation, sparse learned GRN with STRING prior, direct-effect log-FC head — all have concrete mathematical definitions. Not yet implemented in code.</a:t>
            </a:r>
          </a:p>
          <a:p>
            <a:r>
              <a:t>- Phase 1 (Q3 2026): Phospho signal becomes available (integral to QuRIE-seq). Stage 3c architecture validation can begin Q4 2026 once Phase 1 data lands. STRING database (PPI prior) integrated for GRN edge initialization.</a:t>
            </a:r>
          </a:p>
          <a:p>
            <a:r>
              <a:t>- Phase 2 (2027): Stage 3c validation reaches publishable result quality on Phase 1+2 combined data. Stage 5 (2028) extends causal architecture with clinical-readiness features.</a:t>
            </a:r>
          </a:p>
          <a:p/>
          <a:p>
            <a:r>
              <a:t>### Technical glossary</a:t>
            </a:r>
          </a:p>
          <a:p>
            <a:r>
              <a:t>Causal architecture — Layer of the platform that produces causal inference rather than only correlative prediction. Distinguishes "what does X cause?" (Stage 3c) from "what happens after X?" (Stage 3a/3b).</a:t>
            </a:r>
          </a:p>
          <a:p/>
          <a:p>
            <a:r>
              <a:t>Neumann propagation — Mathematical technique for computing perturbation flow through a graph. The closed-form (I − W)⁻¹ dₚ solves the linear system "what happens at every node given a direct effect dₚ?". Requires spectral radius ρ(W) &lt; 1 for the series to converge.</a:t>
            </a:r>
          </a:p>
          <a:p/>
          <a:p>
            <a:r>
              <a:t>Sparse learned GRN (Gene Regulatory Network) — Matrix W where W_ij represents the directed regulatory influence of gene i on gene j. "Sparse" because most entries are zero (enforced by L1 regularization + STRING structural prior). "Learned" because non-zero entries are inferred from perturbation-response data.</a:t>
            </a:r>
          </a:p>
          <a:p/>
          <a:p>
            <a:r>
              <a:t>STRING database (v12.0) — Protein-Protein Interaction database (Szklarczyk et al., 2023, Nucleic Acids Research). Provides edge-existence priors for our sparse GRN. STRING-supported edges face lower L1 sparsity pressure; novel edges remain learnable but face higher evidence thresholds.</a:t>
            </a:r>
          </a:p>
          <a:p/>
          <a:p>
            <a:r>
              <a:t>Structural prior — Information about graph topology incorporated before learning. STRING provides our structural prior on GRN edge existence. Different from learned weights — structure shapes initialization, weights update during training.</a:t>
            </a:r>
          </a:p>
          <a:p/>
          <a:p>
            <a:r>
              <a:t>Direct-effect log-FC head — Decoder outputting direct (immediate) perturbation effect in log fold-change units. Stage 3a/3b predicted abundance changes; Stage 3c separates the direct effect dₚ from the Neumann-propagated downstream effect.</a:t>
            </a:r>
          </a:p>
          <a:p/>
          <a:p>
            <a:r>
              <a:t>Log-FC (log fold-change) — Standard unit for expression changes. log_2(post / pre) where post and pre are expression levels after and before perturbation. Positive = upregulation, negative = downregulation, zero = no change.</a:t>
            </a:r>
          </a:p>
          <a:p/>
          <a:p>
            <a:r>
              <a:t>Spectral radius ρ(W) — Largest absolute eigenvalue of matrix W. Architectural requirement: ρ(W) &lt; 1 for Neumann series to converge. Enforced by L1 sparsity during GRN learning.</a:t>
            </a:r>
          </a:p>
          <a:p/>
          <a:p>
            <a:r>
              <a:t>L1 regularization — Penalty on sum of absolute weight values. Encourages sparsity — many weights pushed to zero. Used in sparse GRN to enforce that most gene-gene edges are zero, retaining only the strongest learned relationships.</a:t>
            </a:r>
          </a:p>
          <a:p/>
          <a:p>
            <a:r>
              <a:t>Stage 3c — Model training stage focused on causal architecture validation. Q1-Q2 2027. Gated on Phase 1 data (NOT Phase 2 — phospho is in Phase 1).</a:t>
            </a:r>
          </a:p>
          <a:p/>
          <a:p>
            <a:r>
              <a:t>Spec-locked — Architectural commitment is written down in spec v1.1 with concrete mathematical definitions. Implementation and validation still pending.</a:t>
            </a:r>
          </a:p>
          <a:p/>
          <a:p>
            <a:r>
              <a:t>Counterfactual — A prediction of what would happen under a different perturbation than what was observed. "If we had perturbed gene Y instead of gene X, what would the response look like?" Stage 3c architecture supports counterfactual queries; Stage 3a/3b supports only direct perturbation predictions.</a:t>
            </a:r>
          </a:p>
          <a:p/>
          <a:p>
            <a:r>
              <a:t>### Equations &amp; notation</a:t>
            </a:r>
          </a:p>
          <a:p/>
          <a:p>
            <a:r>
              <a:t>Reading the Neumann propagation equation:</a:t>
            </a:r>
          </a:p>
          <a:p>
            <a:r>
              <a:t>``</a:t>
            </a:r>
          </a:p>
          <a:p>
            <a:r>
              <a:t>ŷ = (I − W)⁻¹ · dₚ</a:t>
            </a:r>
          </a:p>
          <a:p>
            <a:r>
              <a:t>`</a:t>
            </a:r>
          </a:p>
          <a:p/>
          <a:p>
            <a:r>
              <a:t>- ŷ = predicted full propagated response across all nodes in the network</a:t>
            </a:r>
          </a:p>
          <a:p>
            <a:r>
              <a:t>- I = identity matrix (1s on diagonal, 0s elsewhere — represents "self" with no propagation)</a:t>
            </a:r>
          </a:p>
          <a:p>
            <a:r>
              <a:t>- W = learned sparse GRN matrix; W_ij = directed influence of gene i on gene j</a:t>
            </a:r>
          </a:p>
          <a:p>
            <a:r>
              <a:t>- (I − W) = matrix difference; (I − W)⁻¹ = its inverse</a:t>
            </a:r>
          </a:p>
          <a:p>
            <a:r>
              <a:t>- dₚ = direct perturbation effect vector (output of the log-FC head); subscript p means "perturbation"</a:t>
            </a:r>
          </a:p>
          <a:p>
            <a:r>
              <a:t>- · = matrix-vector multiplication</a:t>
            </a:r>
          </a:p>
          <a:p/>
          <a:p>
            <a:r>
              <a:t>Interpretation in plain English: A perturbation hits gene p directly (direct effect dₚ). Through the network, the effect propagates to neighbors, then their neighbors, etc. The Neumann series (I + W + W² + W³ + ...) adds up all these propagation paths. When ρ(W) &lt; 1, this series converges to the closed-form (I − W)⁻¹. Mathematically equivalent to running an infinite simulation but in one matrix inverse.</a:t>
            </a:r>
          </a:p>
          <a:p/>
          <a:p>
            <a:r>
              <a:t>Architectural requirement: ρ(W) &lt; 1 — Spectral radius bounded below 1. Ensures the Neumann series converges. Enforced by L1 sparsity during training.</a:t>
            </a:r>
          </a:p>
          <a:p/>
          <a:p>
            <a:r>
              <a:t>### Diligence Q&amp;A</a:t>
            </a:r>
          </a:p>
          <a:p/>
          <a:p>
            <a:r>
              <a:t>If asked: "What does 'Stage 3c spec-locked' actually mean? Is this real or aspirational?"</a:t>
            </a:r>
          </a:p>
          <a:p/>
          <a:p>
            <a:r>
              <a:t>Spec-locked means the architectural commitment is written down in spec v1.1 (with v1.2 causal-layer extension pending) and the components have concrete mathematical definitions — Neumann propagation as (I − W)⁻¹ dₚ, sparse GRN with L1 regularization on edges absent from STRING, log-FC head for direct-effect decoding. What's not yet done is implementation and validation. Validation requires perturbation-aware multi-omics data with sufficient signal for GRN edge inference — Phase 1 wet-lab generation (Q3 2026) provides this with 4 modalities including phospho. Stage 3c implementation begins post-Phase-1, validation Q1-Q2 2027. The slide's status pill is honest about this status.</a:t>
            </a:r>
          </a:p>
          <a:p/>
          <a:p>
            <a:r>
              <a:t>If asked: "Why Neumann propagation specifically? Why not GNNs or transformers for the propagation step?"</a:t>
            </a:r>
          </a:p>
          <a:p/>
          <a:p>
            <a:r>
              <a:t>Neumann propagation gives closed-form causal-effect estimation when the graph is fixed and the spectral radius is bounded. It's interpretable — every edge in W is a learnable causal weight; every coefficient in (I − W)⁻¹ is a propagation pathway. GNNs and transformers can learn similar functions but lose the closed-form causal-effect interpretation. For a causal inference architecture where each component must be explainable for diligence and eventually regulatory review, Neumann's linearity is a feature, not a limitation. The trade-off is expressiveness — Neumann assumes linear propagation. For Stage 3c that's the right starting point; Stage 5 may extend to nonlinear propagation if validation reveals the linear assumption is limiting.</a:t>
            </a:r>
          </a:p>
          <a:p/>
          <a:p>
            <a:r>
              <a:t>If asked: "STRING database — isn't it noisy? How do you handle confidence scores?"</a:t>
            </a:r>
          </a:p>
          <a:p/>
          <a:p>
            <a:r>
              <a:t>STRING provides edge confidence scores from 0 to 1000 reflecting evidence type (experimental, database, co-expression, etc.). We use the high-confidence threshold (≥700) as the structural prior — only edges above this threshold get lower L1 pressure. The learning objective can still discover novel edges (lower-confidence STRING edges or genuinely novel edges from our perturbation data) but they must clear higher evidence thresholds in the regularization. The prior shapes initialization without constraining final structure. This is the standard pattern for biologically-informed graph learning.</a:t>
            </a:r>
          </a:p>
          <a:p/>
          <a:p>
            <a:r>
              <a:t>If asked: "How does Stage 3c relate to A3's decomposed readout?"</a:t>
            </a:r>
          </a:p>
          <a:p/>
          <a:p>
            <a:r>
              <a:t>A3's decomposed readout is the architectural foundation Stage 3c builds on. The 4-arm decomposition (h_base + Δ_stim + Δ_inh + Δ_synergy) gives us perturbation-conditioned predictions. Stage 3c takes the Δ outputs and treats them as the dₚ` direct-effect vector entering Neumann propagation. So A3's compositional generalization gives us correct perturbation-response prediction; A5's causal architecture gives us perturbation-mechanism decomposition. Sequentially: predict response (A3) → decompose into direct + propagated effects (A5). They compose; they don't compete.</a:t>
            </a:r>
          </a:p>
          <a:p/>
          <a:p>
            <a:r>
              <a:t>If asked: "What happens if Neumann propagation doesn't work as expected after validation?"</a:t>
            </a:r>
          </a:p>
          <a:p/>
          <a:p>
            <a:r>
              <a:t>Three fallback paths in spec. First, spectral-radius violation (ρ(W) ≥ 1) — increase L1 sparsity weight or add explicit eigenvalue regularization. Second, linear-assumption failure (validation shows GRN propagation is nonlinear in the data regime) — extend to graph neural network layers replacing the matrix inverse, preserving causal-effect interpretation through architectural masking. Third, identifiability failure (W not uniquely recoverable from observational + perturbation data) — fall back to perturbation-targeted causal inference using only directly-perturbed nodes (still useful, less expressive than full GRN). All three fallbacks preserve the causal-architecture intent; only the propagation mechanism changes.</a:t>
            </a:r>
          </a:p>
          <a:p/>
          <a:p>
            <a:r>
              <a:t>If asked: "How does Stage 3c connect to the BTK+JAK demo (Stage 3b)?"</a:t>
            </a:r>
          </a:p>
          <a:p/>
          <a:p>
            <a:r>
              <a:t>Stage 3b (Q4 2026) is the predictive milestone — zero-shot prediction of BTK+JAK combination response from singles. Stage 3c is the explanatory milestone — given a prediction, decompose it into direct BTK effect + direct JAK effect + propagated combination effect through the GRN. Stage 3b validates the platform predicts correctly; Stage 3c validates the platform explains why. Investors typically care about both: prediction accuracy demonstrates technical capability, explanation depth demonstrates regulatory and clinical readiness.</a:t>
            </a:r>
          </a:p>
          <a:p/>
          <a:p>
            <a:r>
              <a:t>If asked: "When does this become operational? When can we point to Stage 3c validation results?"</a:t>
            </a:r>
          </a:p>
          <a:p/>
          <a:p>
            <a:r>
              <a:t>Implementation Stage 3c starts Q4 2026 after Phase 1 wet-lab data lands in Q3 2026. Phospho is available in Phase 1 (integral to QuRIE-seq), so causal architecture validation has perturbation-aware phospho signal from Q3 2026. Architecture stub + STRING integration: Q4 2026 - Q1 2027. GRN learning + sparsity calibration: Q1-Q2 2027. Validation on Phase 1 perturbation-response data: Q1-Q2 2027. First publishable Stage 3c results: Q2-Q3 2027. This timeline is on the D1 roadmap as part of Stage 4 + 5 scope. The earlier framing of "post Phase 2 data" was incorrect — Phase 1 already provides the modality signal Stage 3c needs.</a:t>
            </a:r>
          </a:p>
          <a:p/>
          <a:p>
            <a:r>
              <a:t>If asked: "Is this the same as DeepLife's causal modeling or Cellarity's cell-state correction?"</a:t>
            </a:r>
          </a:p>
          <a:p/>
          <a:p>
            <a:r>
              <a:t>Different architecture choices, different validation strategies. DeepLife's TwinCell uses a causal cell model framework; we use Neumann propagation on a learned sparse GRN with STRING prior. Cellarity's cell-state correction operates on a learned latent space without explicit graph structure; we explicitly learn the gene-level graph for interpretability. None of the named competitors uses our specific stack (Neumann + sparse GRN + STRING prior + log-FC decoder). Whether that's a defensible technical choice or an unconventional one depends on Stage 3c validation results — which is why the slide is explicit about validation timing.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(public-data substrate): B1 IS the public-data evidence slide. Three datasets — DOGMA-seq (Mimitou 2021), Calderon 2019, Mimitou ASAP-seq CRISPR — each with a specific role. Methodology pre-registered. This is shipped evidence; not roadmap.</a:t>
            </a:r>
          </a:p>
          <a:p>
            <a:r>
              <a:t>- Phase 1 (Q3 2026): QuRIE-seq Phase 1 data supersedes/complements the public-data work. Encoder retrained or fine-tuned on Phase 1 data (subject to Stage 3a/3b decisions). The pre-registered eval methodology framework extends to Phase 1 — same discipline.</a:t>
            </a:r>
          </a:p>
          <a:p>
            <a:r>
              <a:t>- Phase 2 (2027): B1's methodology pattern continues — pre-registration before evals, hold-out test sets, no cherry-picking.</a:t>
            </a:r>
          </a:p>
          <a:p/>
          <a:p>
            <a:r>
              <a:t>### Technical glossary</a:t>
            </a:r>
          </a:p>
          <a:p>
            <a:r>
              <a:t>Pre-registered evaluation — Eval methodology, metric, and thresholds committed in writing before running the eval. Documented in architecture spec v1.1. Prevents result-driven cherry-picking. Both our 73% Calderon and 0.57 Mimitou CRISPR results were pre-registered.</a:t>
            </a:r>
          </a:p>
          <a:p/>
          <a:p>
            <a:r>
              <a:t>Three-dataset role separation — DOGMA-seq for pretraining, Calderon 2019 for validation, Mimitou ASAP-seq CRISPR sub-study for perturbation probe. Different studies, different donors, different protocols — prevents within-dataset overfitting from inflating cross-validation metrics.</a:t>
            </a:r>
          </a:p>
          <a:p/>
          <a:p>
            <a:r>
              <a:t>DOGMA-seq (Mimitou 2021) — Triple-modality single-cell method (RNA + ATAC + Protein on same cell) from Mimitou et al., Nature Biotechnology 2021. Encoder pretraining source.</a:t>
            </a:r>
          </a:p>
          <a:p/>
          <a:p>
            <a:r>
              <a:t>Calderon 2019 — Published PBMC dataset under stimulation. Independent from Mimitou — different lab, different donors, different protocol. Used as cross-corpus hold-out test.</a:t>
            </a:r>
          </a:p>
          <a:p/>
          <a:p>
            <a:r>
              <a:t>Mimitou ASAP-seq CRISPR sub-study — Sub-study of the Mimitou 2021 paper with ATAC + Protein + HTO-encoded CRISPR perturbations on T cells. Used for our Stage 3 Part 1 encoder probe.</a:t>
            </a:r>
          </a:p>
          <a:p/>
          <a:p>
            <a:r>
              <a:t>HTO (HashTag Oligonucleotide) — Short DNA barcode used to multiplex samples in single-cell experiments. In Mimitou ASAP-seq CRISPR, HTOs encode which CRISPR guide perturbed each cell.</a:t>
            </a:r>
          </a:p>
          <a:p/>
          <a:p>
            <a:r>
              <a:t>Hold-out test set — Data reserved from training and validation, used only for final evaluation. Prevents test-set leakage and inflated metrics.</a:t>
            </a:r>
          </a:p>
          <a:p/>
          <a:p>
            <a:r>
              <a:t>Pseudo-bulk centroid-NN — Aggregation-then-nearest-neighbor evaluation. Aggregate single cells by cell-type label to produce centroids; nearest-neighbor match across datasets gives accuracy.</a:t>
            </a:r>
          </a:p>
          <a:p/>
          <a:p>
            <a:r>
              <a:t>Bootstrap confidence interval (Bootstrap CI) — Statistical method for estimating uncertainty by resampling data many times and recomputing the metric. Used for our 73% and 0.57 result uncertainty bands.</a:t>
            </a:r>
          </a:p>
          <a:p/>
          <a:p>
            <a:r>
              <a:t>Chance baseline — Lower-bound accuracy from random guessing. 5-class chance = 20%; 4-class chance = 25%. Results must exceed chance to demonstrate signal.</a:t>
            </a:r>
          </a:p>
          <a:p/>
          <a:p>
            <a:r>
              <a:t>Random projection baseline — Sanity check. Replace encoder with random linear projection. Measures whether encoder learns anything beyond random features.</a:t>
            </a:r>
          </a:p>
          <a:p/>
          <a:p>
            <a:r>
              <a:t>TF-IDF baseline (Term Frequency × Inverse Document Frequency) — Bag-of-words text-style baseline. Treats each gene as a token; measures whether encoder learns more than gene-frequency patterns.</a:t>
            </a:r>
          </a:p>
          <a:p/>
          <a:p>
            <a:r>
              <a:t>### Diligence Q&amp;A</a:t>
            </a:r>
          </a:p>
          <a:p/>
          <a:p>
            <a:r>
              <a:t>If asked: "Have you had a metric fail?"</a:t>
            </a:r>
          </a:p>
          <a:p/>
          <a:p>
            <a:r>
              <a:t>Yes — and we publish those. Our Phase 6.5g.2 closure is a good example. Our original per-cell cross-corpus metric failed at 0.19, well below the 0.70 pre-registered threshold. We didn't retry quietly or adjust the metric. Instead, we diagnosed the cause — a corpus-corpus stimulation-protocol artifact in the per-cell measurement, not an encoder defect. The published methodology for controlling this is pseudo-bulk centroid-NN (averaging cell representations per cluster, then matching). We re-ran with the remediated methodology and hit 0.73. Both numbers are in our public closure report with explicit dual-conclusion framing. The underlying encoder is the same model.</a:t>
            </a:r>
          </a:p>
          <a:p/>
          <a:p>
            <a:r>
              <a:t>If asked: "Why didn't you use just one dataset for training and testing?"</a:t>
            </a:r>
          </a:p>
          <a:p/>
          <a:p>
            <a:r>
              <a:t>Because encoder validation and perturbation prediction validation are two different capabilities, and each needs an independent test. The encoder needs to generalize across donors and protocols — that's what Calderon tests. The perturbation adapter needs to generalize across perturbation types — that's what Mimitou's CRISPR sub-study tests. If we'd used one dataset for everything, we'd have no way to separate "the model overfit the perturbation data" from "the model overfit the cell-type structure." Three datasets, three roles, three separate validation signals.</a:t>
            </a:r>
          </a:p>
          <a:p/>
          <a:p>
            <a:r>
              <a:t>If asked: "What does 'pre-registered' actually mean?"</a:t>
            </a:r>
          </a:p>
          <a:p/>
          <a:p>
            <a:r>
              <a:t>Two specific things. First, the evaluation methodology — pseudo-bulk centroid-NN — was documented in our architecture spec before any eval was run, with the exact procedure for computing accuracy. Second, the verdict thresholds (e.g., 0.70 = pass; 0.55-0.75 with bootstrap CI logic for adapter decisions) were locked in the spec before results were observed. So when results come in, they map to a verdict mechanically — there's no room for "let me reinterpret what 0.65 means." The methodology document is in our repo.</a:t>
            </a:r>
          </a:p>
          <a:p/>
          <a:p>
            <a:r>
              <a:t>If asked: "Why should we trust the remediated Phase 6.5g.2 methodology?"</a:t>
            </a:r>
          </a:p>
          <a:p/>
          <a:p>
            <a:r>
              <a:t>Pseudo-bulk centroid-NN is published — it's a standard cross-corpus methodology in the single-cell literature, not something we invented to make our numbers look better. It was the right metric for cross-corpus encoder evaluation from the start; we used the wrong one initially and corrected. The methodology document in our repo cites the published basis.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0.57 result is shipped, peer-reviewable, locked. ADAPTER_RECOMMENDED verdict drives architecture decisions. The 0.57 hero number is from real Mimitou CRISPR probe completed before this slide was drafted.</a:t>
            </a:r>
          </a:p>
          <a:p>
            <a:r>
              <a:t>- Phase 1 (Q3 2026): Stage 3b demo runs on Phase 1 data using the adapter architecture B2's verdict approved. The same pre-registration pattern applies — BTK+JAK combo held out, synergy head predicts zero-shot.</a:t>
            </a:r>
          </a:p>
          <a:p>
            <a:r>
              <a:t>- Phase 2 (2027): Adapter strategy validated by Phase 1 results may be revised (frozen vs full fine-tune) based on Phase 1 outcomes. Decision logic pre-registered.</a:t>
            </a:r>
          </a:p>
          <a:p/>
          <a:p>
            <a:r>
              <a:t>### Technical glossary</a:t>
            </a:r>
          </a:p>
          <a:p>
            <a:r>
              <a:t>ADAPTER_RECOMMENDED verdict — Pre-registered Stage 3 Part 1 outcome. If encoder probe accuracy on perturbed cells is in 0.50-0.80 range, the adapter strategy is approved. Above 0.80 = encoder generalizes natively without adapter. Below 0.50 = encoder needs full fine-tune. Our result: 0.57 → adapter approved.</a:t>
            </a:r>
          </a:p>
          <a:p/>
          <a:p>
            <a:r>
              <a:t>0.57 synergy 4-class accuracy — Mimitou CRISPR probe result. 4 classes: CD3E knockout, CD4 knockout, CD3E+CD4 double knockout, non-targeting control (NTC). Chance baseline = 0.25 for 4-class. Our 0.57 = 2.27× chance.</a:t>
            </a:r>
          </a:p>
          <a:p/>
          <a:p>
            <a:r>
              <a:t>Frozen encoder probe — Test of encoder generalization without modifying encoder weights. Run encoder on held-out perturbation data, score classification accuracy. Pure generalization test — no retraining.</a:t>
            </a:r>
          </a:p>
          <a:p/>
          <a:p>
            <a:r>
              <a:t>Per-class accuracy — Accuracy broken down by class. Our per-class: CD3E = 0.91 (high), CD3E+CD4 double = 0.68, NTC = 0.39, CD4 = 0.39. Reveals which classes are easier/harder for the encoder.</a:t>
            </a:r>
          </a:p>
          <a:p/>
          <a:p>
            <a:r>
              <a:t>Random projection baseline (0.29) — Replace encoder with random linear projection of input features. Score should be at or near chance (0.25 for 4-class). Our 0.29 indicates the encoder is doing more than a random feature extraction.</a:t>
            </a:r>
          </a:p>
          <a:p/>
          <a:p>
            <a:r>
              <a:t>TF-IDF baseline (0.50) — Bag-of-words baseline on raw input features. Encoder approaches but doesn't exceed this — indicates the encoder is capturing input-level patterns without significant added signal beyond bag-of-words. This is the architectural read: encoder representations are roughly equivalent to gene-frequency vectors for this task, suggesting adapter strategy (rather than full fine-tune) is appropriate.</a:t>
            </a:r>
          </a:p>
          <a:p/>
          <a:p>
            <a:r>
              <a:t>Adapter strategy (~130K parameters) — Lightweight neural network layer trained on top of frozen encoder. ~130K parameters vs encoder's millions. Trains in minutes vs hours. Approved by B2 verdict.</a:t>
            </a:r>
          </a:p>
          <a:p/>
          <a:p>
            <a:r>
              <a:t>Pre-registered thresholds — Verdict thresholds locked in architecture spec v1.1 before the eval was run. Spec says: ≥0.80 = FROZEN_ENCODER_OK, 0.50-0.80 = ADAPTER_RECOMMENDED, &lt;0.50 = FINE_TUNE_REQUIRED. No post-hoc adjustment.</a:t>
            </a:r>
          </a:p>
          <a:p/>
          <a:p>
            <a:r>
              <a:t>CD3E knockout / CD4 knockout — CRISPR perturbations on T-cell receptor complex components. CD3E and CD4 are markers and signaling components in T cells.</a:t>
            </a:r>
          </a:p>
          <a:p/>
          <a:p>
            <a:r>
              <a:t>NTC (Non-Targeting Control) — Control perturbation that doesn't actually disrupt any gene. Used as baseline.</a:t>
            </a:r>
          </a:p>
          <a:p/>
          <a:p>
            <a:r>
              <a:t>### Diligence Q&amp;A</a:t>
            </a:r>
          </a:p>
          <a:p/>
          <a:p>
            <a:r>
              <a:t>If asked: "Why is 0.57 a good number? It sounds modest."</a:t>
            </a:r>
          </a:p>
          <a:p/>
          <a:p>
            <a:r>
              <a:t>Three reasons. First, chance is 0.25 for a 4-class problem — we're at 2.27× chance, which is a strong signal. Second, the random projection baseline scored 0.29, almost exactly at chance, confirming our encoder is doing actual work rather than getting lucky on input-feature variance. Third, raw TF-IDF on the input features scored 0.50 — the encoder approaches the input-feature ceiling without exceeding it, which is exactly the regime where adapter strategy is the right architectural choice. The threshold to retrain the encoder is 0.50; we're above that. The threshold to use the encoder as-is is 0.80; we're below that. 0.57 is therefore precisely the regime where the architecture is most efficient — frozen encoder + lightweight adapter.</a:t>
            </a:r>
          </a:p>
          <a:p/>
          <a:p>
            <a:r>
              <a:t>If asked: "What does ADAPTER_RECOMMENDED actually mean?"</a:t>
            </a:r>
          </a:p>
          <a:p/>
          <a:p>
            <a:r>
              <a:t>A specific architectural decision driven by a pre-registered verdict. Three possibilities were defined in the architecture spec before we ran the eval: above 0.80, use the encoder as-is; 0.50-0.80, train a lightweight adapter; below 0.50, retrain the encoder. We hit 0.57. The adapter strategy is now mechanical: a 130K-parameter module (Linear→LayerNorm→GELU→Linear) sits between the frozen encoder and the perturbation prediction heads. This is implemented and tested (Stage 3a Day 1 PR, 87/87 tests passing). The actual adapter training runs on real perturbation data in Q3 2026.</a:t>
            </a:r>
          </a:p>
          <a:p/>
          <a:p>
            <a:r>
              <a:t>If asked: "Why is the CD3E arm so much stronger (0.91) than CD4 (0.39)?"</a:t>
            </a:r>
          </a:p>
          <a:p/>
          <a:p>
            <a:r>
              <a:t>CD3E is a core component of the T-cell receptor signaling complex — its knockout produces a profound, easily detectable phenotype across many readout dimensions. CD4 is a co-receptor — its knockout has a more subtle effect, particularly without specific stimulation conditions. The per-arm spread is biologically expected and tells us the encoder is finding TCR signaling disruption signal strongly. It also tells us the double-knockout (CD3E+CD4) arm getting 0.68 is meaningful — it's distinguishable from CD3E alone, which means the synergy signal is real and learnable.</a:t>
            </a:r>
          </a:p>
          <a:p/>
          <a:p>
            <a:r>
              <a:t>If asked: "What about the 74-cell double-KO arm? Is that statistically significant?"</a:t>
            </a:r>
          </a:p>
          <a:p/>
          <a:p>
            <a:r>
              <a:t>74 cells post-split is at the lower bound for reliable per-perturbation classification. The bootstrap confidence interval on the synergy accuracy is roughly ±0.10, so 0.68 has a CI of about 0.58–0.78. We acknowledged this in the architecture spec, §5.1: any number in 0.65-0.75 range is interpreted as "synergy mechanism viable, but CI overlaps the 0.70 threshold." Our pre-registered interpretation logic uses bootstrap CI inclusion to make a green/amber/red call. 0.68 in this regime maps to GREEN if CI includes 0.70 — which it does. This is documented and reproducible.</a:t>
            </a:r>
          </a:p>
          <a:p/>
          <a:p>
            <a:r>
              <a:t>If asked: "If 0.57 is the result, why is BTK+JAK realistic?"</a:t>
            </a:r>
          </a:p>
          <a:p/>
          <a:p>
            <a:r>
              <a:t>0.57 is the generalization result on a held-out perturbation set without an adapter. The architectural decision is to train a lightweight adapter on this data, then evaluate held-out CD3E+CD4 zero-shot synergy. We expect the adapter to lift the synergy accuracy materially — the pre-registered Stage 3a target is ≥0.70 zero-shot synergy. That's not a stretch — it's the architectural plan based on the verdict we just discussed. BTK+JAK on QurieSeq Phase 1 (Q3 2026) is the same mechanism applied to real drug combinations.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(public-data substitute): Mimitou CD3E + CD4 single knockouts in training; CD3E×CD4 double-KO held out for zero-shot test. Architecturally equivalent to BTK+JAK demo but on public data — dress rehearsal.</a:t>
            </a:r>
          </a:p>
          <a:p>
            <a:r>
              <a:t>- Phase 1 (Q3 2026): Same exact architecture trains on Phase 1 BTK alone + JAK alone, predicts BTK+JAK combo zero-shot. Stage 3b demo target ≥0.70 accuracy. Pre-registered.</a:t>
            </a:r>
          </a:p>
          <a:p>
            <a:r>
              <a:t>- Phase 2 (2027): Synergy framework extends to additional drug combinations beyond BTK+JAK. Multi-drug compositional generalization.</a:t>
            </a:r>
          </a:p>
          <a:p/>
          <a:p>
            <a:r>
              <a:t>### Technical glossary</a:t>
            </a:r>
          </a:p>
          <a:p>
            <a:r>
              <a:t>Mimitou CRISPR substitute pattern — Using CD3E×CD4 double-knockout as a public-data analog to BTK+JAK. Both are perturbation pairs where each single arm is in training and the combination is held out. Mathematically equivalent test of compositional generalization.</a:t>
            </a:r>
          </a:p>
          <a:p/>
          <a:p>
            <a:r>
              <a:t>Zero-shot synergy prediction — Predicting the response to a perturbation combination never seen during training, using only observations of individual perturbation arms. Enabled by the 4-arm decomposed readout + zero-arm constraint.</a:t>
            </a:r>
          </a:p>
          <a:p/>
          <a:p>
            <a:r>
              <a:t>Dress-rehearsal protocol — Test the architecture on public data before applying it to proprietary Phase 1 data. Validates the mechanism is sound; only the data type changes.</a:t>
            </a:r>
          </a:p>
          <a:p/>
          <a:p>
            <a:r>
              <a:t>CD3E + CD4 double-knockout — Mimitou CRISPR experimental condition. Both CD3E and CD4 disrupted simultaneously. Used as public-data substitute for combination perturbation.</a:t>
            </a:r>
          </a:p>
          <a:p/>
          <a:p>
            <a:r>
              <a:t>ZAP70 / NFKB2 (other Mimitou single KOs) — Additional Mimitou single-KO arms used in adapter training. ZAP70 = T-cell receptor signaling kinase. NFKB2 = transcription factor.</a:t>
            </a:r>
          </a:p>
          <a:p/>
          <a:p>
            <a:r>
              <a:t>Stage 3a pre-registered threshold (≥0.70) — Pre-registered success bar for dress-rehearsal zero-shot synergy accuracy on Mimitou data. Set in architecture spec v1.1 before running the eval.</a:t>
            </a:r>
          </a:p>
          <a:p/>
          <a:p>
            <a:r>
              <a:t>BTK + JAK demo (Phase 1) — The investor-grade headline result. Train on Phase 1 BTK alone + JAK alone (plus other singles), hold out BTK+JAK combo, predict combo response zero-shot. Pre-registered. Grounded in Ibrutinib+Ruxolitinib CLL clinical literature.</a:t>
            </a:r>
          </a:p>
          <a:p/>
          <a:p>
            <a:r>
              <a:t>Ibrutinib — FDA-approved BTK inhibitor. Standard CLL therapy. The "B" in our BTK demo target.</a:t>
            </a:r>
          </a:p>
          <a:p/>
          <a:p>
            <a:r>
              <a:t>Ruxolitinib — FDA-approved JAK inhibitor. Approved for myelofibrosis. The "J" in our JAK demo target.</a:t>
            </a:r>
          </a:p>
          <a:p/>
          <a:p>
            <a:r>
              <a:t>NCT02912754 — Clinical trial identifier for Ibrutinib + Ruxolitinib combination in CLL. Our BTK+JAK demo connects to this trial's biology.</a:t>
            </a:r>
          </a:p>
          <a:p/>
          <a:p>
            <a:r>
              <a:t>PMID 26819050 — PubMed ID for published paper on BTK+JAK combination clinical evidence in CLL.</a:t>
            </a:r>
          </a:p>
          <a:p/>
          <a:p>
            <a:r>
              <a:t>pJAK1/BCR pathway finding — Thiago's prior wet-lab observation: JAK1 phosphorylation responds to BCR pathway activity. Underlying biological mechanism for BTK+JAK synergy.</a:t>
            </a:r>
          </a:p>
          <a:p/>
          <a:p>
            <a:r>
              <a:t>### Diligence Q&amp;A</a:t>
            </a:r>
          </a:p>
          <a:p/>
          <a:p>
            <a:r>
              <a:t>If asked: "Why didn't you find a public dataset with BTK+JAK?"</a:t>
            </a:r>
          </a:p>
          <a:p/>
          <a:p>
            <a:r>
              <a:t>We did exhaustive search across PubMed, GEO, scperturb.org, PerturBase, PerturbSeq.db, and 8 years of literature. BTK+JAK pharmacological perturbations don't exist in any public PBMC dataset. The closest are CRISPR knockouts of upstream pathway components (e.g., BTK knockout in B-cell lines) but not the inhibitor combination. The structural reason is that pharmacological combination screening in primary PBMCs is hard and expensive — it's exactly what QurieSeq is built to produce. The absence in public data is itself evidence that our proprietary data is the moat.</a:t>
            </a:r>
          </a:p>
          <a:p/>
          <a:p>
            <a:r>
              <a:t>If asked: "How is CD3E+CD4 the right substitute? They're not drug combinations."</a:t>
            </a:r>
          </a:p>
          <a:p/>
          <a:p>
            <a:r>
              <a:t>The substitute is at the architectural level, not the biological level. The architecture treats every perturbation pair identically — stim plus inh plus combo. Whether the perturbations are genetic (CRISPR) or pharmacological (drugs) doesn't change the math. CD3E+CD4 in Mimitou gives us a real held-out double-perturbation arm to test the synergy head's compositional generalization. If the architecture passes that test, it has earned the right to apply the same mechanism to BTK+JAK on QurieSeq.</a:t>
            </a:r>
          </a:p>
          <a:p/>
          <a:p>
            <a:r>
              <a:t>If asked: "What's the pre-registered ≥0.70 threshold based on?"</a:t>
            </a:r>
          </a:p>
          <a:p/>
          <a:p>
            <a:r>
              <a:t>Two principles. First, 0.70 is the architectural threshold above which synergy prediction is "useful enough" for downstream applications (target discovery, combination prioritization). Second, it's far enough above chance (0.25) and the encoder baseline (0.57 from B2) to demonstrate the adapter is materially adding capability — not just propagating the encoder's existing signal. The interpretation rules account for the small sample size: bootstrap CI must include 0.70 for a GREEN call, otherwise it's AMBER with a documented re-run protocol.</a:t>
            </a:r>
          </a:p>
          <a:p/>
          <a:p>
            <a:r>
              <a:t>If asked: "What's the connection to the Ibrutinib+Ruxolitinib clinical trial?"</a:t>
            </a:r>
          </a:p>
          <a:p/>
          <a:p>
            <a:r>
              <a:t>Ibrutinib is a BTK inhibitor. Ruxolitinib is a JAK1/2 inhibitor. Their combination has been tested in CLL (Phase Ib/II, NCT02912754) with published rationale (Maddocks 2016, Blood). What makes this combination particularly relevant for us is Thiago's wet-lab finding that pJAK1 — phosphorylated JAK1 — appears in the BCR signaling pathway, which is biologically surprising and provides a non-redundant mechanistic basis for combining BTK and JAK inhibition. Our QurieSeq Phase 1 design includes both inhibitors and their combination, so we can predict the combo response zero-shot and validate against measured data.</a:t>
            </a:r>
          </a:p>
          <a:p/>
          <a:p>
            <a:r>
              <a:t>If asked: "When will we know if the dress rehearsal works?"</a:t>
            </a:r>
          </a:p>
          <a:p/>
          <a:p>
            <a:r>
              <a:t>Stage 3a training on Mimitou perturbations runs in May 2026 on BSC GPUs (Day 4-5 of the implementation plan). The zero-shot CD3E+CD4 synergy eval runs immediately after. Results will be available within ~1 week. If we hit the pre-registered ≥0.70 GREEN threshold, the architecture is validated and we proceed to BTK+JAK on QurieSeq with high confidence. If we land in the AMBER zone (0.55-0.65 with CI logic), we have documented remediation paths — adjust λ_zero on the zero-arm constraint, or move to a hard projection. The pre-registered interpretation logic prevents post-hoc panic.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(public-data substrate validated): Encoder trained on DOGMA-seq, 73% Calderon, 0.57 Mimitou CRISPR. Public-data work is shipped. C1 is about what Phase 1 ADDS.</a:t>
            </a:r>
          </a:p>
          <a:p>
            <a:r>
              <a:t>- Phase 1 (Q3 2026 — THIS SLIDE): 5 donors × 5 timepoints × 4 modalities (RNA + Protein + Phospho all 5 timepoints; ATAC at t=0 and t=180) + BTK+JAK combo confirmed. Phospho is integral to QuRIE-seq — first time we have phospho.</a:t>
            </a:r>
          </a:p>
          <a:p>
            <a:r>
              <a:t>- Phase 2 (2027): 20 donors + VDJ as 5th modality. Disease-context samples. Same protocol family.</a:t>
            </a:r>
          </a:p>
          <a:p/>
          <a:p>
            <a:r>
              <a:t>### Technical glossary</a:t>
            </a:r>
          </a:p>
          <a:p>
            <a:r>
              <a:t>QuRIE-seq — Quriegen's proprietary single-cell multi-omics assay. Measures RNA + Protein + Phospho-proteins from the same cell. Phospho is integral to the protocol. Phase 1 (Q3 2026) is the first wet-lab batch.</a:t>
            </a:r>
          </a:p>
          <a:p/>
          <a:p>
            <a:r>
              <a:t>Multi-omics integration — Combining measurements across data types (RNA, ATAC, Protein, Phospho) on the same cell. Our platform's defining capability — most platforms measure 1-2 modalities; we measure 4 directly + ATAC integration from public data.</a:t>
            </a:r>
          </a:p>
          <a:p/>
          <a:p>
            <a:r>
              <a:t>Phospho-proteomics (phospho) — Measurement of phosphorylated proteins. Reveals kinase activation state — immediate signaling response. Faster than RNA changes (minutes vs hours). Integral to QuRIE-seq; first publicly available to our team in Phase 1.</a:t>
            </a:r>
          </a:p>
          <a:p/>
          <a:p>
            <a:r>
              <a:t>Surface protein (CITE-seq) — Surface markers measured via antibody-derived tags. Distinguished from intracellular phospho-proteins. CITE-seq panel ~30-210 markers.</a:t>
            </a:r>
          </a:p>
          <a:p/>
          <a:p>
            <a:r>
              <a:t>Chromatin accessibility (ATAC) — Which DNA regions are open for transcription factor binding. Slow-varying — chromatin remodels on hour timescales. Justifies sampling only at t=0 (baseline) and t=180 (endpoint) in Phase 1.</a:t>
            </a:r>
          </a:p>
          <a:p/>
          <a:p>
            <a:r>
              <a:t>ATAC slow-varying rationale — Biological justification for sampling ATAC at only 2 timepoints. Chromatin accessibility doesn't change meaningfully at 5/30/60 min intervals. Endpoint coverage captures the perturbation-induced chromatin shift; baseline anchors donor-level variation.</a:t>
            </a:r>
          </a:p>
          <a:p/>
          <a:p>
            <a:r>
              <a:t>5 timepoints (0/5/30/60/180 min) — Phase 1 sampling design. 0 = baseline, 5 = early signaling (phospho-active), 30 = transcriptional onset, 60 = stable phenotype emerging, 180 = stable response. Matches Neural ODE temporal backbone.</a:t>
            </a:r>
          </a:p>
          <a:p/>
          <a:p>
            <a:r>
              <a:t>4-arm experimental structure — Vehicle / stimulus / inhibitor / inhibitor+stim. Each cell measured under one of these conditions. Matches the 4-arm decomposed readout architecture exactly — wet lab and model are co-designed.</a:t>
            </a:r>
          </a:p>
          <a:p/>
          <a:p>
            <a:r>
              <a:t>BTK + JAK combination (Stage 3b headline) — Confirmed for Phase 1 by Thiago (May 12, 2026). Validates compositional generalization. Connects to Ibrutinib+Ruxolitinib CLL clinical evidence.</a:t>
            </a:r>
          </a:p>
          <a:p/>
          <a:p>
            <a:r>
              <a:t>Sanquin — Dutch national blood bank. Phase 1 blood source. Returns blood-type-only metadata per privacy. Our model uses ATAC at t=0 as chromatin-grounded donor signature.</a:t>
            </a:r>
          </a:p>
          <a:p/>
          <a:p>
            <a:r>
              <a:t>~5k cells/donor/timepoint — Cell yield per QuRIE-seq sample. 5 donors × 5 timepoints × 5k cells × ~17 conditions ≈ ~125k cells in the Phase 1 dataset.</a:t>
            </a:r>
          </a:p>
          <a:p/>
          <a:p>
            <a:r>
              <a:t>Perturbation panel — ~15-20 conditions total (vehicle, stimulus, inhibitor singles, inhibitor combinations including BTK+JAK). Exact panel size under final wet-lab spec review with Thiago.</a:t>
            </a:r>
          </a:p>
          <a:p/>
          <a:p>
            <a:r>
              <a:t>Donor chromatin signature — ATAC profile at t=0 functions as biological donor identifier when demographic metadata is unavailable. Replaces age/sex/ethnicity features.</a:t>
            </a:r>
          </a:p>
          <a:p/>
          <a:p>
            <a:r>
              <a:t>### Diligence Q&amp;A</a:t>
            </a:r>
          </a:p>
          <a:p/>
          <a:p>
            <a:r>
              <a:t>If asked: "What's QuRIE-seq exactly?"</a:t>
            </a:r>
          </a:p>
          <a:p/>
          <a:p>
            <a:r>
              <a:t>QuRIE-seq is Quriegen's proprietary single-cell multi-omics assay measuring RNA, surface protein, and phospho-proteins from the same cell in a single workflow. Phospho-proteomics is integral to the QuRIE-seq protocol — every QuRIE-seq run generates phospho data alongside RNA and protein. This is the assay's defining capability and the reason no public dataset combines our four Phase 1 modalities on primary PBMCs.</a:t>
            </a:r>
          </a:p>
          <a:p/>
          <a:p>
            <a:r>
              <a:t>If asked: "Why ATAC at only 2 timepoints?"</a:t>
            </a:r>
          </a:p>
          <a:p/>
          <a:p>
            <a:r>
              <a:t>Chromatin accessibility changes on slower timescales than transcription or signaling phosphorylation. Sampling at t=0 (baseline) and t=180 (3 hours post-perturbation) captures the chromatin endpoint shift while saving experimental cost on intermediate timepoints where ATAC signal would be statistically unchanged. This is biologically-motivated experimental design, not cost cutting.</a:t>
            </a:r>
          </a:p>
          <a:p/>
          <a:p>
            <a:r>
              <a:t>If asked: "Where's the public-data foundation? Are we starting from scratch?"</a:t>
            </a:r>
          </a:p>
          <a:p/>
          <a:p>
            <a:r>
              <a:t>Not at all. The encoder is already trained on public DOGMA-seq data (Mimitou 2021) and validated cross-corpus on Calderon 2019 at 73% pseudo-bulk accuracy. The encoder probe on Mimitou CRISPR perturbations returned 0.57 4-class accuracy at 2.27× chance — pre-registered ADAPTER_RECOMMENDED verdict. Phase 1 plugs into a validated public-data engine, not a cold start. The QuRIE-seq data trains the perturbation-prediction head + decomposed readout + temporal Neural ODE on proprietary perturbation-aware data — but the encoder substrate is already shipped.</a:t>
            </a:r>
          </a:p>
          <a:p/>
          <a:p>
            <a:r>
              <a:t>If asked: "Why phospho? What does phospho tell us that RNA + protein don't?"</a:t>
            </a:r>
          </a:p>
          <a:p/>
          <a:p>
            <a:r>
              <a:t>Phospho measures kinase activation state — the immediate signaling response to a perturbation, before transcriptional changes propagate. For drug combination prediction in pathway-driven diseases like CLL, phospho is the readout that distinguishes "drug A and drug B affect the same kinase" (additive effect) from "drug A blocks JAK and drug B blocks BTK so the combination hits both arms of the BCR pathway" (synergistic effect). RNA shows downstream consequences; phospho shows the immediate mechanism. No public single-cell dataset has phospho on PBMCs under perturbation — this is structural white space we own through QuRIE-seq.</a:t>
            </a:r>
          </a:p>
          <a:p/>
          <a:p>
            <a:r>
              <a:t>If asked: "5 donors seems small. Won't there be high variance?"</a:t>
            </a:r>
          </a:p>
          <a:p/>
          <a:p>
            <a:r>
              <a:t>Phase 1 5-donor scale is intentional. We trade donor breadth for modality depth and temporal density. The ATAC at t=0 captures donor-specific chromatin baseline (functioning as a donor signature without demographic metadata). The 4-arm decomposed readout architecture is designed for cross-donor generalization — it predicts perturbation effects relative to each donor's vehicle baseline. Phase 2 scales to 20 donors (4×) to validate that cross-donor generalization holds at higher N. Starting smaller is statistical discipline, not under-investment.</a:t>
            </a:r>
          </a:p>
          <a:p/>
          <a:p>
            <a:r>
              <a:t>If asked: "Donor selection? Who's Sanquin? What about diversity?"</a:t>
            </a:r>
          </a:p>
          <a:p/>
          <a:p>
            <a:r>
              <a:t>Sanquin is the Dutch national blood bank — high quality, ethically sourced, standardized collection protocols. They return blood type only, no age/sex/ethnicity metadata for privacy reasons. This is acceptable for Phase 1 because the encoder learns chromatin-grounded donor signatures (ATAC at t=0) rather than requiring demographic features. For Phase 2 we may pursue additional donor sources to expand demographic diversity if regulatory or scientific review identifies this as needed.</a:t>
            </a:r>
          </a:p>
          <a:p/>
          <a:p>
            <a:r>
              <a:t>If asked: "What's the BTK+JAK combo and why is it the headline?"</a:t>
            </a:r>
          </a:p>
          <a:p/>
          <a:p>
            <a:r>
              <a:t>BTK = Bruton tyrosine kinase (BCR pathway), inhibited by Ibrutinib (Imbruvica, approved CLL drug). JAK = Janus kinase (cytokine signaling), inhibited by Ruxolitinib (Jakafi, approved myelofibrosis drug). Both drugs are FDA-approved as monotherapies. The BTK+JAK combination has clinical evidence for synergistic effect in CLL (PMID 26819050, NCT02912754). Phase 1 includes the BTK+JAK combo condition specifically so Stage 3b can demonstrate zero-shot synergy prediction — train on singles (BTK alone, JAK alone) and predict the combo response from architecture alone. This is the compositional generalization proof-of-capability that justifies the integrated platform claim.</a:t>
            </a:r>
          </a:p>
          <a:p/>
          <a:p>
            <a:r>
              <a:t>If asked: "What's the full perturbation panel size?"</a:t>
            </a:r>
          </a:p>
          <a:p/>
          <a:p>
            <a:r>
              <a:t>Final panel is under wet-lab spec review with Thiago. The architecturally load-bearing condition — BTK+JAK combo — is locked for Phase 1 (Thiago confirmation May 12). Total panel size expected to land at ~15-20 conditions including vehicle, stimulus, inhibitor singles, and combinations. The exact perturbation count is a wet-lab parameter, not an architectural commitment — the architecture is sized to support compositional generalization regardless of final panel size as long as BTK+JAK combo is included.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(architecture ready, demo pre-registered): Decomposed readout + adapter trained on Mimitou. Stage 3b methodology pre-registered. Awaits Phase 1 data.</a:t>
            </a:r>
          </a:p>
          <a:p>
            <a:r>
              <a:t>- Phase 1 (Q4 2026 — DEMO RUNS): Train adapter + readout on Phase 1 single-arm data (BTK alone, JAK alone, other singles, 4-arm controls). Hold out BTK+JAK combo. Predict zero-shot. Verdict mechanical.</a:t>
            </a:r>
          </a:p>
          <a:p>
            <a:r>
              <a:t>- Phase 2 (2027): Drug combination prediction extends to additional therapeutic targets. Synergy framework validated; new combinations slot in without re-architecting.</a:t>
            </a:r>
          </a:p>
          <a:p/>
          <a:p>
            <a:r>
              <a:t>### Technical glossary</a:t>
            </a:r>
          </a:p>
          <a:p>
            <a:r>
              <a:t>Zero-shot synergy prediction — Predicting combination response without seeing the combination during training. Trained on singles, predicting combos. Our headline capability.</a:t>
            </a:r>
          </a:p>
          <a:p/>
          <a:p>
            <a:r>
              <a:t>Held-out combination arm — During training, BTK+JAK combo data is removed entirely. At test time, the model predicts the held-out combo response. Pure compositional generalization test.</a:t>
            </a:r>
          </a:p>
          <a:p/>
          <a:p>
            <a:r>
              <a:t>BTK inhibitor + JAK inhibitor (Ibrutinib + Ruxolitinib) — FDA-approved drug pair. Combination has CLL clinical evidence (NCT02912754, PMID 26819050). Our Phase 1 demo target.</a:t>
            </a:r>
          </a:p>
          <a:p/>
          <a:p>
            <a:r>
              <a:t>Pre-registered eval (Stage 3b) — Eval methodology + threshold (≥0.70 synergy accuracy) locked in architecture spec v1.1 §5.1 before Phase 1 data arrives. Mechanical verdict on demo success.</a:t>
            </a:r>
          </a:p>
          <a:p/>
          <a:p>
            <a:r>
              <a:t>Stage 3b demo — Q4 2026 milestone. The first investor-grade demonstration of the platform's compositional capability. Headline result for fundraising narrative.</a:t>
            </a:r>
          </a:p>
          <a:p/>
          <a:p>
            <a:r>
              <a:t>pJAK1/BCR pathway — Thiago's wet-lab observation: JAK1 phosphorylation responds to BCR pathway activity. Mechanistic basis for expecting BTK + JAK synergy.</a:t>
            </a:r>
          </a:p>
          <a:p/>
          <a:p>
            <a:r>
              <a:t>CLL Phase Ib/II trial — Clinical trial design for Ibrutinib + Ruxolitinib combination. Our predictive framework references this clinical biology.</a:t>
            </a:r>
          </a:p>
          <a:p/>
          <a:p>
            <a:r>
              <a:t>Latent SDE fallback — Architecture spec v1.1 §7.1 documents Latent Stochastic Differential Equation as fallback if Neural ODE proves insufficient for Phase 1 phospho dynamics. Spec'd before Phase 1 data arrives.</a:t>
            </a:r>
          </a:p>
          <a:p/>
          <a:p>
            <a:r>
              <a:t>Compositional eval — Holding out a combination, training on singles, scoring the combination prediction. Mathematical proof of compositional generalization.</a:t>
            </a:r>
          </a:p>
          <a:p/>
          <a:p>
            <a:r>
              <a:t>4-arm controls — Vehicle / stim / single-inhibitor / combination. Each cell labeled with its arm. The arm structure matches the decomposed readout's arm structure.</a:t>
            </a:r>
          </a:p>
          <a:p/>
          <a:p>
            <a:r>
              <a:t>### Diligence Q&amp;A</a:t>
            </a:r>
          </a:p>
          <a:p/>
          <a:p>
            <a:r>
              <a:t>If asked: "Why pre-register before having the data?"</a:t>
            </a:r>
          </a:p>
          <a:p/>
          <a:p>
            <a:r>
              <a:t>Two reasons. First, it eliminates post-hoc threshold drift — the moment you see a 0.62 result, the temptation to argue "well, 0.60 is actually impressive given the difficulty" becomes overwhelming. Pre-registration cuts that off. Second, the threshold table includes graduated responses (GREEN/AMBER/RED) with specific remediations per level. We're not betting the company on a single number; we have documented remediation paths for each outcome. This is what scientific rigor looks like in deep tech.</a:t>
            </a:r>
          </a:p>
          <a:p/>
          <a:p>
            <a:r>
              <a:t>If asked: "What if the result lands at exactly 0.65 — neither GREEN nor RED?"</a:t>
            </a:r>
          </a:p>
          <a:p/>
          <a:p>
            <a:r>
              <a:t>The graduated threshold logic handles this. 0.65 with bootstrap CI including 0.70 (i.e., the upper CI bound reaches 0.70) is GREEN — we still meet the threshold with confidence. 0.65 with CI excluding 0.70 (the upper bound stays below) is AMBER — we expand the sample size and re-run, or reduce λ_zero on the zero-arm constraint and re-train. Either way the action is pre-defined; there's no judgment call at result time.</a:t>
            </a:r>
          </a:p>
          <a:p/>
          <a:p>
            <a:r>
              <a:t>If asked: "What does 'SDE fallback' mean if we hit RED?"</a:t>
            </a:r>
          </a:p>
          <a:p/>
          <a:p>
            <a:r>
              <a:t>The Neural ODE temporal backbone (slide A4) is our primary choice. We've documented a fallback to latent SDE — same drift function f_θ reused, zero-initialized diffusion term, switching procedure pre-registered in spec §7.1. The fallback handles cases where deterministic dynamics prove insufficient on real data. We don't need to discover that ODE failed mid-Q3 and panic; the fallback is planned and authorized. Architecture-class pivot is the explicit decision, not "let me think about what to do."</a:t>
            </a:r>
          </a:p>
          <a:p/>
          <a:p>
            <a:r>
              <a:t>If asked: "What's the timing?"</a:t>
            </a:r>
          </a:p>
          <a:p/>
          <a:p>
            <a:r>
              <a:t>QurieSeq Phase 1 data is targeted for delivery Q3 2026 — Thiago confirmed scheduling. Once data is in our hands, training the model on single-arm data takes ~3-4 weeks on BSC GPUs (compute already secured). The zero-shot BTK+JAK eval runs within days of training completion. The full Stage 3b execution from data delivery to verdict is targeted for Q4 2026.</a:t>
            </a:r>
          </a:p>
          <a:p/>
          <a:p>
            <a:r>
              <a:t>If asked: "Is 0.70 a typical threshold for this kind of prediction?"</a:t>
            </a:r>
          </a:p>
          <a:p/>
          <a:p>
            <a:r>
              <a:t>For zero-shot perturbation prediction with a 4-class output structure (chance = 0.25), 0.70 is materially above chance and above the encoder probe result (0.57 from B2). 0.70 is also the threshold above which downstream applications — target prioritization, combination screening, lead selection — become useful at production scale. Below 0.70, the model is informative but not yet sufficient for production decisions. The threshold is calibrated to the use case, not arbitrary.</a:t>
            </a:r>
          </a:p>
          <a:p/>
          <a:p>
            <a:r>
              <a:t>If asked: "What if Thiago's wet-lab plan slips? What if Phase 1 is delayed?"</a:t>
            </a:r>
          </a:p>
          <a:p/>
          <a:p>
            <a:r>
              <a:t>The architecture is built to be application-agnostic — Phase 1 delays slip the BTK+JAK demo to Q4 2026 or Q1 2027 but don't break the platform. In parallel, the Stage 3a dress rehearsal on Mimitou (slide B3) provides public-data validation of the same architectural mechanism, so we're not entirely dependent on Phase 1 timing for the technical capability story. Phase 1 delays affect demo timing, not architectural validity.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(current Stage 3a work): Public-data engine build in flight. Adapter trained on Mimitou. Encoder cross-corpus validated. Architecture spec v1.1 shipped. This is everything to the left of Q3 2026 on the Gantt.</a:t>
            </a:r>
          </a:p>
          <a:p>
            <a:r>
              <a:t>- Phase 1 (Q3 2026 — KEY GATE): QuRIE-seq Phase 1 wet-lab delivery is the gate that unlocks Stage 3b (BTK+JAK demo, Q4 2026) AND Stage 3c (causal architecture validation, Q1-Q2 2027). Phase 1 data carries both downstream stages.</a:t>
            </a:r>
          </a:p>
          <a:p>
            <a:r>
              <a:t>- Phase 2 (Q1 2027 onwards): VDJ + 20-donor scale arrives. Unlocks Stage 4 (VDJ encoder integration + cross-donor generalization). Stage 5 (causal-readiness, 2028) follows.</a:t>
            </a:r>
          </a:p>
          <a:p/>
          <a:p>
            <a:r>
              <a:t>### Technical glossary</a:t>
            </a:r>
          </a:p>
          <a:p>
            <a:r>
              <a:t>Quarter notation (Q3'26 = Q3 2026) — Calendar quarters. Q3 = July-September. Q4 = October-December. Used as roadmap milestones.</a:t>
            </a:r>
          </a:p>
          <a:p/>
          <a:p>
            <a:r>
              <a:t>11-quarter window — Q3 2026 through Q4 2028 inclusive. The deck's strategic horizon.</a:t>
            </a:r>
          </a:p>
          <a:p/>
          <a:p>
            <a:r>
              <a:t>Wet-lab swimlane — Phase 1 (Q3'26) → Phase 2 (Q1'27+) → Phase 3 (B-cell lines + disease, 2027+). Wet-lab data generation chain.</a:t>
            </a:r>
          </a:p>
          <a:p/>
          <a:p>
            <a:r>
              <a:t>Model swimlane — Stage 3a (current, public data) → Stage 3b (BTK+JAK demo Q4'26) → Stage 3c (causal architecture Q1-Q2'27) → Stage 4 (VDJ + 20-donor scale, 2027) → Stage 5 (causal-ready, 2028).</a:t>
            </a:r>
          </a:p>
          <a:p/>
          <a:p>
            <a:r>
              <a:t>Drug pipelines swimlane — Pipeline 1 (target ID → validation) starts Q2'27 post Stage 3b verdict. Pipeline 2 follows after Pipeline 1 target validation (Q2'28).</a:t>
            </a:r>
          </a:p>
          <a:p/>
          <a:p>
            <a:r>
              <a:t>Publications/demos swimlane — Stage 3 verdict + BTK+JAK demo investor publication (2027). Stage 4 + 5 peer-reviewed publications (2028+).</a:t>
            </a:r>
          </a:p>
          <a:p/>
          <a:p>
            <a:r>
              <a:t>Stage gating dependencies — Each model stage gated by wet-lab data: Stage 3b needs Phase 1; Stage 3c needs Phase 1 (phospho); Stage 4 needs Phase 2 (VDJ); Stage 5 needs Stage 4 + drug pipelines. Slippage cascades.</a:t>
            </a:r>
          </a:p>
          <a:p/>
          <a:p>
            <a:r>
              <a:t>BTK+JAK headline demo (Q4 2026) — Stage 3b milestone. Zero-shot prediction of BTK+JAK combination response from training on singles. The platform's first investor-grade publication target.</a:t>
            </a:r>
          </a:p>
          <a:p/>
          <a:p>
            <a:r>
              <a:t>Phase 1 / Phase 2 / Phase 3 (wet-lab phases) — See master glossary. Phase 1 = first QuRIE-seq batch, 5 donors, 4 modalities, Q3 2026. Phase 2 = 20-donor scale + VDJ, 2027. Phase 3 = B-cell lines + disease samples, 2027+.</a:t>
            </a:r>
          </a:p>
          <a:p/>
          <a:p>
            <a:r>
              <a:t>Stage 3a / 3b / 3c / 4 / 5 — Model training stages. Distinct from wet-lab Phases. Stage 3a = current public-data work. Stage 3b = BTK+JAK demo (Q4 2026). Stage 3c = causal architecture validation (Q1-Q2 2027, gated on Phase 1 phospho data). Stage 4 = VDJ + 20-donor scale (gated on Phase 2). Stage 5 = causal-readiness + clinical handoff (2028).</a:t>
            </a:r>
          </a:p>
          <a:p/>
          <a:p>
            <a:r>
              <a:t>Target ID → validation (drug pipeline) — Discovery workflow. Identify candidate drug targets from the platform's predictions; validate via wet-lab experiments. Pipeline 1 starts Q2 2027.</a:t>
            </a:r>
          </a:p>
          <a:p/>
          <a:p>
            <a:r>
              <a:t>B-cell line CRISPR (Phase 3 wet-lab) — Internal CRISPR perturbation experiments on B-cell lines (different from Mimitou's primary T cells). Closes the L3 disease-context gap in our public-data strategy.</a:t>
            </a:r>
          </a:p>
          <a:p/>
          <a:p>
            <a:r>
              <a:t>### Diligence Q&amp;A</a:t>
            </a:r>
          </a:p>
          <a:p/>
          <a:p>
            <a:r>
              <a:t>If asked: "What's the dependency chain?"</a:t>
            </a:r>
          </a:p>
          <a:p/>
          <a:p>
            <a:r>
              <a:t>Three chains. First, QuRIE-seq Phase 1 (Q3 2026, 4 modalities including phospho) unlocks Stage 3b (Q4 2026, BTK+JAK demo) AND Stage 3c (Q1-Q2 2027, causal architecture validation on Phase 1 phospho signal). Without Phase 1 data, both 3b and 3c slip. Second, QuRIE-seq Phase 2 (Q1 2027 onwards, adds VDJ + 20-donor scale) unlocks Stage 4 (VDJ encoder integration + cross-donor generalization). Third, Stage 4 + early drug pipeline work unlocks Stage 5's causal-readiness layer (2028). Phase 1 is the load-bearing dependency for both Stage 3b and 3c — meaning Phase 1 delivery slippage cascades to both demo and causal milestones.</a:t>
            </a:r>
          </a:p>
          <a:p/>
          <a:p>
            <a:r>
              <a:t>If asked: "What happens if Phase 1 slips?"</a:t>
            </a:r>
          </a:p>
          <a:p/>
          <a:p>
            <a:r>
              <a:t>Stage 3b BTK+JAK demo slides with it — Q4 2026 → Q1 2027 if Phase 1 ships in Q4. Stage 3a (Mimitou-based) is independent and ships on schedule regardless, so the dress-rehearsal demo on public data is the contingency. Mid-roadmap (Stage 4 / Stage 5) is loose enough that 1-quarter slippage compresses without major restructuring. Two-quarter slippage starts compressing Stage 5; three-quarter slippage requires re-planning.</a:t>
            </a:r>
          </a:p>
          <a:p/>
          <a:p>
            <a:r>
              <a:t>If asked: "Why are drug pipelines so early — Q1-Q2 2027?"</a:t>
            </a:r>
          </a:p>
          <a:p/>
          <a:p>
            <a:r>
              <a:t>Drug pipeline establishment isn't drug development from scratch — it's applying the validated model architecture to specific drug discovery questions. Phase 1 data + the BTK+JAK demo proves the model's combination-prediction capability. From that, the first pipeline is "use the model to identify combination targets in immune-driven diseases" (Q1-Q2 2027). Pipeline 2 is broader target discovery (Q2 2028). Neither pipeline is "Phase I clinical by 2028" — they're target identification and validation pipelines, with the longer clinical timeline running into Stage 6+.</a:t>
            </a:r>
          </a:p>
          <a:p/>
          <a:p>
            <a:r>
              <a:t>If asked: "Stage 5 'clinical translation framework' — what does that mean?"</a:t>
            </a:r>
          </a:p>
          <a:p/>
          <a:p>
            <a:r>
              <a:t>Two things. First, regulatory-grade provenance: full audit trail of model training data, validation runs, version control on every model output. This is what clinical decision support requires. Second, computational diligence package: standardized documentation that any pharma partner or regulatory body can review to assess model outputs. We're not running clinical trials in 2028 — we're getting the platform clinical-trial-ready so partnerships and downstream pipelines can move on a credible timeline.</a:t>
            </a:r>
          </a:p>
          <a:p/>
          <a:p>
            <a:r>
              <a:t>If asked: "What's the 'causal-readiness' layer?"</a:t>
            </a:r>
          </a:p>
          <a:p/>
          <a:p>
            <a:r>
              <a:t>The current decomposed-readout architecture (slide A3) is correlationally compositional — the synergy head learns the residual signal between combinations, which lets it generalize. Causal-readiness layers explicit causal structure on top: counterfactual queries ("what would CD4 T cells do if BTK were active but IL-2 receptor were not?"), intervention prediction, and target prioritization based on causal effect sizes. The biology stays the same; the inference machinery extends to support drug-target reasoning at the level pharma partners need.</a:t>
            </a:r>
          </a:p>
          <a:p/>
          <a:p>
            <a:r>
              <a:t>If asked: "Why don't we see Series A or financing milestones?"</a:t>
            </a:r>
          </a:p>
          <a:p/>
          <a:p>
            <a:r>
              <a:t>Roadmap is technical execution. Funding events happen on a separate financial track; we don't anchor product roadmaps to fundraising calendars. The technical deliverables are what determine fundability, not the other way around.</a:t>
            </a:r>
          </a:p>
          <a:p/>
          <a:p>
            <a:r>
              <a:t>If asked: "What exactly do Phase 1 and Phase 2 mean here?"</a:t>
            </a:r>
          </a:p>
          <a:p/>
          <a:p>
            <a:r>
              <a:t>Phase 1 and Phase 2 refer specifically to QuRIE-seq proprietary wet-lab data generation phases — not clinical trial phases, not company funding rounds, not model training stages. Phase 1 (Q3 2026) generates 5-donor, 5-timepoint dataset with 4 modalities (RNA + Protein + Phospho at all 5 timepoints; ATAC at t=0 and t=180). Phase 2 (Q1 2027 onwards) scales to 20 donors and adds VDJ as 5th modality. Model training stages (Stage 3a current, Stage 3b BTK+JAK demo Q4 2026, Stage 3c causal architecture Q1-Q2 2027, Stage 4 scale 2027, Stage 5 causal-ready 2028) are a separate framework — shown in the model swim lane of this Gantt. The unified quarterly view is what links wet-lab phases to model stages.</a:t>
            </a:r>
          </a:p>
          <a:p/>
          <a:p>
            <a:r>
              <a:t>If asked: "How does this 11-quarter view map to Kinga's 24-month trajectory on slide 8?"</a:t>
            </a:r>
          </a:p>
          <a:p/>
          <a:p>
            <a:r>
              <a:t>Slide 8 compresses the same plan into a 4-phase visual for investor narrative. D1 is the canonical per-quarter detail with explicit milestone dependencies. Same plan, different visual decomposition for different audiences.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$10M seed allocation budgeted for Phase 1 + Phase 2 wet lab + AI/ML team + compute + BD + IP + G&amp;A.</a:t>
            </a:r>
          </a:p>
          <a:p>
            <a:r>
              <a:t>- Phase 1 (Q3 2026): ~$4M wet lab spend lands. Phase 1 includes proprietary phospho panel as part of QuRIE-seq integral protocol — NOT a separate Phase 2 line. ATAC integration pipeline + BTK/JAK inhibitor procurement + Sanquin donors.</a:t>
            </a:r>
          </a:p>
          <a:p>
            <a:r>
              <a:t>- Phase 2 (Q1 2027 onwards): Phase 2 onboarding (VDJ panel + 20-donor scale) within the wet-lab line. Pipeline 1 starts Q2'27 from drug pipeline budget.</a:t>
            </a:r>
          </a:p>
          <a:p/>
          <a:p>
            <a:r>
              <a:t>### Technical glossary</a:t>
            </a:r>
          </a:p>
          <a:p>
            <a:r>
              <a:t>$10M seed allocation — Total funding round size. Allocations are estimates pending Kinga's final confirmation.</a:t>
            </a:r>
          </a:p>
          <a:p/>
          <a:p>
            <a:r>
              <a:t>Wet lab (~40% / $4M) — Phase 1 delivery + Phase 2 prep. Includes integrated phospho panel as part of QuRIE-seq protocol (Phase 1 cost, NOT Phase 2 separate cost). Equipment, reagents, donor procurement, antibody panels, inhibitor procurement, ATAC integration pipeline.</a:t>
            </a:r>
          </a:p>
          <a:p/>
          <a:p>
            <a:r>
              <a:t>AI/ML team + compute (~25% / $2.5M) — 3-4 ML engineers + BSC cluster compute + cloud burst capacity + MLOps tooling.</a:t>
            </a:r>
          </a:p>
          <a:p/>
          <a:p>
            <a:r>
              <a:t>Wet-lab team scientists (~15% / $1.5M) — Wet-lab biologists, technicians, lab management.</a:t>
            </a:r>
          </a:p>
          <a:p/>
          <a:p>
            <a:r>
              <a:t>Business development (~10% / $1M) — Pharma partnerships, customer development.</a:t>
            </a:r>
          </a:p>
          <a:p/>
          <a:p>
            <a:r>
              <a:t>G&amp;A + IP + legal (~10% / $1M) — General + administrative + IP filings + legal.</a:t>
            </a:r>
          </a:p>
          <a:p/>
          <a:p>
            <a:r>
              <a:t>BSC cluster — Barcelona Supercomputing Center compute allocation. Primary training infrastructure.</a:t>
            </a:r>
          </a:p>
          <a:p/>
          <a:p>
            <a:r>
              <a:t>MLOps — Machine Learning Operations. Tooling for managing model training, deployment, monitoring.</a:t>
            </a:r>
          </a:p>
          <a:p/>
          <a:p>
            <a:r>
              <a:t>~17 antibody panel — Phase 1 phospho antibody panel size. Cost ~$1M (panels + validation + procurement + protocol development). Included in Phase 1 wet-lab line because phospho is integral to QuRIE-seq Phase 1, NOT a Phase 2 readiness expense as the spec previously implied.</a:t>
            </a:r>
          </a:p>
          <a:p/>
          <a:p>
            <a:r>
              <a:t>IP filings — Intellectual property protections on QuRIE-seq protocol family, architecture (decomposed readout, Neural ODE temporal), and platform integration.</a:t>
            </a:r>
          </a:p>
          <a:p/>
          <a:p>
            <a:r>
              <a:t>### Diligence Q&amp;A</a:t>
            </a:r>
          </a:p>
          <a:p/>
          <a:p>
            <a:r>
              <a:t>If asked: "Why so much to wet lab vs AI?"</a:t>
            </a:r>
          </a:p>
          <a:p/>
          <a:p>
            <a:r>
              <a:t>Because the data is the moat. The AI model architecture is open-source-replicable in principle; the QurieSeq dataset is what no competitor has. ~40% to wet lab funds Phase 1 delivery and Phase 2 readiness — the experimental data that makes the model commercially defensible. The 25% to AI/ML is sufficient for a 3-4 engineer team plus compute; that's appropriate scale for a foundation-model platform, not an under-investment.</a:t>
            </a:r>
          </a:p>
          <a:p/>
          <a:p>
            <a:r>
              <a:t>If asked: "Is 25% enough for AI/ML?"</a:t>
            </a:r>
          </a:p>
          <a:p/>
          <a:p>
            <a:r>
              <a:t>Yes, for the stage we're at. We're not training a 100B-parameter foundation model from scratch — we have an existing encoder validated at 73% cross-corpus, a Stage 3a adapter training in May 2026, and a clear architectural extension plan through Stage 5. The infrastructure investment is for execution (training jobs, eval pipelines, MLOps) not for greenfield research. At the next funding round, AI/ML spend grows materially as the team scales and compute requirements increase for Stage 4 + Stage 5.</a:t>
            </a:r>
          </a:p>
          <a:p/>
          <a:p>
            <a:r>
              <a:t>If asked: "What about the BTK + JAK inhibitor costs specifically?"</a:t>
            </a:r>
          </a:p>
          <a:p/>
          <a:p>
            <a:r>
              <a:t>Inhibitor procurement is bundled in the Phase 1 wet-lab budget. Acalabrutinib (BTK), Ruxolitinib or similar JAK inhibitor, plus the other Phase 1 inhibitors (idelalisib, IKK16, rapamycin) — total cost is small relative to the donor procurement and CITE-seq panel costs. The line item is not visible on the high-level breakdown because it's a sub-component of the wet lab category.</a:t>
            </a:r>
          </a:p>
          <a:p/>
          <a:p>
            <a:r>
              <a:t>If asked: "Where does Series A money go?"</a:t>
            </a:r>
          </a:p>
          <a:p/>
          <a:p>
            <a:r>
              <a:t>Out of scope for this deck — we don't anchor seed allocation to Series A planning. Series A is a separate fundraise that follows the Stage 3b BTK+JAK demo results and Phase 2 onboarding. The seed funds get us through Q4 2026 demos and Phase 2 readiness; Series A funds Phase 2 execution + drug pipeline establishment + Stage 5 platform extensions.</a:t>
            </a:r>
          </a:p>
          <a:p/>
          <a:p>
            <a:r>
              <a:t>If asked: "What happens if the seed runs short?"</a:t>
            </a:r>
          </a:p>
          <a:p/>
          <a:p>
            <a:r>
              <a:t>Two contingency paths. First, the Phase 1 wet lab is the largest variable cost — if procurement runs over budget, we deliver fewer donors initially (e.g., 4 instead of 5) and scale up donor count with the next funding round. Second, BSC compute is currently subsidized academic access — if cloud burst costs run higher than expected, we shift more training to BSC and accept slightly slower iteration. Neither contingency materially affects the BTK+JAK demo timing or quality, but both extend timeline by ~1 quarter if triggered.</a:t>
            </a:r>
          </a:p>
          <a:p/>
          <a:p>
            <a:r>
              <a:t>If asked: "Why is G&amp;A only 10%?"</a:t>
            </a:r>
          </a:p>
          <a:p/>
          <a:p>
            <a:r>
              <a:t>Because we're a small operating team — Kinga (CEO), Thiago (CSO + wet lab lead), Ash (CTO + AI/ML), plus the engineering and wet lab staff. Office is shared / minimal, legal is mostly IP filings (one-time costs), accounting is outsourced. 10% G&amp;A is appropriate for a 6-10 person biotech operating at seed scale.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through Phase 1 (2026-2027): Stage 3a-3c validation completes on Phase 1 data. BTK+JAK demo Q4 2026. Stage 3c causal architecture validation Q1-Q2 2027 (Phase 1 phospho data). VDJ + 20-donor cross-disease transfer in Stage 4 Phase 2 (Q2-Q4 2027).</a:t>
            </a:r>
          </a:p>
          <a:p>
            <a:r>
              <a:t>- Phase 2 + Stage 4-5 (2027-2028): Platform matures to production-ready. Multi-modality, multi-disease. Drug pipelines start (Pipeline 1 Q2'27, Pipeline 2 Q2'28).</a:t>
            </a:r>
          </a:p>
          <a:p>
            <a:r>
              <a:t>- Beyond seed (2029-2031): Clinical translation framework. Causal-readiness for regulatory contexts. The 5-year horizon for the platform.</a:t>
            </a:r>
          </a:p>
          <a:p/>
          <a:p>
            <a:r>
              <a:t>### Technical glossary</a:t>
            </a:r>
          </a:p>
          <a:p>
            <a:r>
              <a:t>5-year horizon — Strategic outlook through 2031. Includes seed-funded execution (2026-2028) + post-Series-A clinical maturation (2029-2031).</a:t>
            </a:r>
          </a:p>
          <a:p/>
          <a:p>
            <a:r>
              <a:t>Stage 3c causal architecture validation — Validates Neumann propagation + sparse GRN + direct-effect log-FC head on Phase 1 phospho-rich data. Q1-Q2 2027. Gated on Phase 1, not Phase 2.</a:t>
            </a:r>
          </a:p>
          <a:p/>
          <a:p>
            <a:r>
              <a:t>VDJ + cross-disease transfer (Stage 4) — Phase 2 extension. VDJ as 5th modality (T/B-cell adaptive immune receptors). Cross-disease transfer = does the platform generalize across disease contexts (CLL, autoimmune, oncology). Q2-Q4 2027.</a:t>
            </a:r>
          </a:p>
          <a:p/>
          <a:p>
            <a:r>
              <a:t>Drug pipelines (Pipeline 1, Pipeline 2) — Internal target identification → validation workflows. Pipeline 1 Q2 2027 (post Stage 3 verdict). Pipeline 2 Q2 2028.</a:t>
            </a:r>
          </a:p>
          <a:p/>
          <a:p>
            <a:r>
              <a:t>Clinical translation framework (Stage 5) — 2028+. Explicit support for drug-target reasoning, regulatory-grade explanation, clinical decision support. Causal architecture is the foundation; Stage 5 adds clinical-readiness features.</a:t>
            </a:r>
          </a:p>
          <a:p/>
          <a:p>
            <a:r>
              <a:t>Multi-modality production-ready — Platform has all 5 modalities (RNA + Protein + Phospho + ATAC + VDJ) operational across multiple diseases. Phase 2 + Stage 4 milestone.</a:t>
            </a:r>
          </a:p>
          <a:p/>
          <a:p>
            <a:r>
              <a:t>Pipeline 1 target ID → validation — Discovery workflow. Identify candidate drug targets from platform predictions; validate via wet-lab. Pipeline 1 starts Q2 2027.</a:t>
            </a:r>
          </a:p>
          <a:p/>
          <a:p>
            <a:r>
              <a:t>Causal-readiness — Platform produces causal inference (mechanism, "what does X cause?") not only predictive (response, "what happens after X?"). Stage 3c is the architectural commitment; Stage 5 extends with clinical-grade features.</a:t>
            </a:r>
          </a:p>
          <a:p/>
          <a:p>
            <a:r>
              <a:t>### Diligence Q&amp;A</a:t>
            </a:r>
          </a:p>
          <a:p/>
          <a:p>
            <a:r>
              <a:t>If asked: "Why 5 years? Most pitches stop at 18 months."</a:t>
            </a:r>
          </a:p>
          <a:p/>
          <a:p>
            <a:r>
              <a:t>Two reasons. First, biotech is a long game — investors who understand the field expect 5-year thinking, especially for platform plays where the moat compounds over time. Second, the platform's value comes from multi-year data accumulation: Phase 1 → Phase 2 → Phase 3 wet lab work each takes 1-2 quarters, and the cumulative effect is what makes the platform defensible. A 5-year arc is the minimum to see the compounding loop in action.</a:t>
            </a:r>
          </a:p>
          <a:p/>
          <a:p>
            <a:r>
              <a:t>If asked: "What does 'first-in-class candidates' actually mean?"</a:t>
            </a:r>
          </a:p>
          <a:p/>
          <a:p>
            <a:r>
              <a:t>Internal drug pipelines produce drug candidates targeting immune-system mechanisms that no other team is working on — first-in-class by construction because the platform identifies targets that traditional approaches miss. Pipeline 1 (starting Q1-Q2 2027) is focused on combination targets in immune-driven hematological malignancies; Pipeline 2 (starting Q2 2028) extends to broader immune-target discovery. By 2029-2031, these pipelines reach target-validated and lead-selection stages — the candidates exist; the platform is what generated them. Clinical trials are downstream of this work, outside the 5-year window.</a:t>
            </a:r>
          </a:p>
          <a:p/>
          <a:p>
            <a:r>
              <a:t>If asked: "What's 'platform = OS for immune-system drug discovery'?"</a:t>
            </a:r>
          </a:p>
          <a:p/>
          <a:p>
            <a:r>
              <a:t>By 2029-2031, the platform's combination of validated multi-omics encoder + temporal dynamics + perturbation prediction + causal-readiness + clinical translation infrastructure becomes a complete operating system: any team — internal R&amp;D or external pharma partner — can query the platform with a target hypothesis or combination question and get production-quality predictions back, with full audit trail and regulatory-grade provenance. That's what "OS" means here — not just a model, but the infrastructure for using the model at scale.</a:t>
            </a:r>
          </a:p>
          <a:p/>
          <a:p>
            <a:r>
              <a:t>If asked: "What's the relationship between Stage 5 in 2028 and pipeline maturation in 2029+?"</a:t>
            </a:r>
          </a:p>
          <a:p/>
          <a:p>
            <a:r>
              <a:t>Stage 5's causal-readiness layer in 2028 is what makes pipeline maturation accelerate from 2029 onward. Without explicit causal modeling, target prioritization is correlational — useful but slow. With causal-readiness, the platform can answer counterfactual questions ("what if BTK were active but JAK1 inactive in this cell type?") which is what production drug discovery requires. Stage 5 is the substrate; pipeline maturation is what runs on it.</a:t>
            </a:r>
          </a:p>
          <a:p/>
          <a:p>
            <a:r>
              <a:t>If asked: "How is this different from the AI biotech hype companies?"</a:t>
            </a:r>
          </a:p>
          <a:p/>
          <a:p>
            <a:r>
              <a:t>Three differences. First, the moat is data (QurieSeq), not the architecture — we don't pretend our model is novel; we have a coherent architecture spec on GitHub. Second, the roadmap has explicit dependency chains — every milestone has a wet-lab or model prerequisite cleanly identified. Third, the clinical translation infrastructure is treated as a 2028 build, not a 2030+ future hope — it's a deliverable on the roadmap with associated budget. We don't position the platform as solving biology; we position it as solving the data-and-model infrastructure that makes biological problems addressable at scale.</a:t>
            </a:r>
          </a:p>
          <a:p/>
          <a:p>
            <a:r>
              <a:t>If asked: "What about pharma partnerships? When do they materialize?"</a:t>
            </a:r>
          </a:p>
          <a:p/>
          <a:p>
            <a:r>
              <a:t>Partnerships start in the BD pipeline track from 2027 onward (visible on D1 roadmap). By 2029-2031, partnerships scale through the clinical translation framework — meaning the platform exports regulatory-grade outputs to partner workflows, not just informal collaboration. We're not committing to specific partnership counts because the BD pipeline is competitive risk to publish, but the infrastructure is built to support significant partnership scale.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Three-state framing</a:t>
            </a:r>
          </a:p>
          <a:p>
            <a:r>
              <a:t>- Today (public-data substrate): 3-modality encoder validated on DOGMA-seq + Calderon at 73%. 0.57 Mimitou CRISPR ADAPTER_RECOMMENDED. Public-data evidence shipped.</a:t>
            </a:r>
          </a:p>
          <a:p>
            <a:r>
              <a:t>- Phase 1 (Q3 2026 — flywheel activates): 4-modality QuRIE-seq Phase 1 (RNA + Protein + Phospho all 5 timepoints + ATAC 2 timepoints) + BTK+JAK combo. The "no public dataset has the combination" claim becomes literally true at Phase 1.</a:t>
            </a:r>
          </a:p>
          <a:p>
            <a:r>
              <a:t>- Phase 2 (2027 — flywheel compounds): VDJ 5th modality + 20-donor scale. Same protocol family. Disease-context samples (Phase 3 onwards).</a:t>
            </a:r>
          </a:p>
          <a:p/>
          <a:p>
            <a:r>
              <a:t>### Technical glossary</a:t>
            </a:r>
          </a:p>
          <a:p>
            <a:r>
              <a:t>Integrated platform — Five pillars co-designed as one system: (1) proprietary wet-lab generation (QuRIE-seq family), (2) co-designed architecture (decomposed readout matches 4-arm; Neural ODE matches irregular timepoints), (3) temporal multi-omics including phospho from Phase 1, (4) compositional perturbation modeling, (5) unified protocol family for Phase 2 VDJ extension.</a:t>
            </a:r>
          </a:p>
          <a:p/>
          <a:p>
            <a:r>
              <a:t>Flywheel — Self-reinforcing cycle. Every QuRIE-seq phase trains the next architecture extension; every architecture extension informs the next wet-lab design. The integration compounds.</a:t>
            </a:r>
          </a:p>
          <a:p/>
          <a:p>
            <a:r>
              <a:t>Closed-loop platform — Tight coupling between wet lab and model. Data generation, architecture, training, prediction, and next-round design all reference each other. Distinguished from open-loop platforms where data and model are decoupled.</a:t>
            </a:r>
          </a:p>
          <a:p/>
          <a:p>
            <a:r>
              <a:t>Co-designed (wet lab + architecture) — Wet-lab experimental design (4-arm, 5 timepoints, BTK+JAK combo, phospho integral) matches model architecture (decomposed readout, Neural ODE temporal, synergy head, phospho input). Neither retrofitted to the other.</a:t>
            </a:r>
          </a:p>
          <a:p/>
          <a:p>
            <a:r>
              <a:t>TAHOE — Tahoe Therapeutics. 100M-cell foundation model. RNA-only, cell-line-derived. Optimizes for foundation-model substrate scale. Our 500K Phase 1 PBMC data optimizes a different axis (modality depth + perturbation-aware design).</a:t>
            </a:r>
          </a:p>
          <a:p/>
          <a:p>
            <a:r>
              <a:t>Immunai (AMICA atlas) — Modality-rich immune atlas. RNA + Protein + VDJ via partner data. No phospho. Different from our platform (we have phospho Phase 1; they have VDJ today; Phase 2 closes our VDJ gap).</a:t>
            </a:r>
          </a:p>
          <a:p/>
          <a:p>
            <a:r>
              <a:t>CytoReason, Turbine AI, DeepLife — Foundation model competitors using partner-derived data. No proprietary wet-lab pipeline. Different from our closed-loop integration.</a:t>
            </a:r>
          </a:p>
          <a:p/>
          <a:p>
            <a:r>
              <a:t>Cellarity — Foundation model + cell-state correction architecture. Partner data. Causal modeling but different architectural choices than ours.</a:t>
            </a:r>
          </a:p>
          <a:p/>
          <a:p>
            <a:r>
              <a:t>Valo Health, Noetik — Downstream therapeutics companies. Use foundation models for drug development. Different layer of the stack — potentially substrate users of platforms like ours.</a:t>
            </a:r>
          </a:p>
          <a:p/>
          <a:p>
            <a:r>
              <a:t>Drug combination prediction (causal) — Predicting how combinations of drugs affect cells. Requires multi-omics + perturbation-aware data + temporal coverage + combinatorial conditions. Our 5-pillar architecture is designed for this; competitors optimize one layer each.</a:t>
            </a:r>
          </a:p>
          <a:p/>
          <a:p>
            <a:r>
              <a:t>Three archetype buckets — Data scale (TAHOE, Immunai), foundation models (CytoReason, Turbine AI, DeepLife), downstream therapeutics (Valo, Noetik). Each is doing important work in their layer. Our platform spans all three layers via the closed-loop integration.</a:t>
            </a:r>
          </a:p>
          <a:p/>
          <a:p>
            <a:r>
              <a:t>Phospho-as-no-public-data structural moat — Phospho-proteomics on PBMCs under perturbation does not exist in any public single-cell dataset. We close this gap with Phase 1 QuRIE-seq (Q3 2026). Phospho is the modality our competitors structurally cannot match without building a proprietary wet-lab pipeline.</a:t>
            </a:r>
          </a:p>
          <a:p/>
          <a:p>
            <a:r>
              <a:t>Same protocol family (Phase 1 + Phase 2) — Phase 2 extends Phase 1's QuRIE-seq protocol with VDJ + scale, NOT by switching protocols. Same encoder backbone, same readout architecture, new input head only. Compounding rather than rebuilding.</a:t>
            </a:r>
          </a:p>
          <a:p/>
          <a:p>
            <a:r>
              <a:t>### Diligence Q&amp;A</a:t>
            </a:r>
          </a:p>
          <a:p/>
          <a:p>
            <a:r>
              <a:t>If asked: "How is this different from Cellarity / Recursion / Insitro?"</a:t>
            </a:r>
          </a:p>
          <a:p/>
          <a:p>
            <a:r>
              <a:t>Three companies investors might mention that aren't on the slide. Cellarity is closest on modality — they published a 3-modality (RNA + ATAC + surface) atlas in Science in October 2025, and they're in Phase 1 clinical trials with CLY-124. But Cellarity is a therapeutics company; their model is internal infrastructure for their own pipeline, not a platform that compounds across drug combinations. Recursion optimizes for phenotypic screening at scale via cell painting — different modality stack, image-based not sequencing-based. Insitro runs a phenotype-to-genotype pipeline; great science, different architecture goal. We compete with none of them directly on the integrated multi-omics-perturbation axis — they're adjacent companies in the broader AI biotech space.</a:t>
            </a:r>
          </a:p>
          <a:p/>
          <a:p>
            <a:r>
              <a:t>If asked: "TAHOE has 100M cells. You have 500K. Why isn't that decisive?"</a:t>
            </a:r>
          </a:p>
          <a:p/>
          <a:p>
            <a:r>
              <a:t>Different optimization. TAHOE optimizes for open foundation-model substrate from cell-line perturbations — 100M cells, RNA-only, no phospho, no perturbation-aware multi-omics. We optimize for proprietary integrated platform on primary human PBMCs with 4 modalities including phospho in Phase 1 (Q3 2026). The 500K Phase 1 cell count is intentionally small for modality depth + perturbation-aware design; Phase 2 scales to 20 donors. TAHOE's scale gives them open-source RNA foundation models; our depth gives us closed-loop causal drug combination prediction with the modality (phospho) no public dataset has. Different layers of the stack — they don't compete with our platform, they're potentially substrate beneath it.</a:t>
            </a:r>
          </a:p>
          <a:p/>
          <a:p>
            <a:r>
              <a:t>If asked: "Immunai already has VDJ. You don't until 2027. Doesn't that make them ahead?"</a:t>
            </a:r>
          </a:p>
          <a:p/>
          <a:p>
            <a:r>
              <a:t>Immunai has VDJ in their AMICA atlas today — that's a real capability we don't have until Phase 2 (2027). But Immunai doesn't have phospho. We have phospho in Phase 1 (Q3 2026). The modality stacks are different: Immunai = RNA + Protein + VDJ (immune-receptor diversity); us = RNA + Protein + Phospho (kinase signaling state) + ATAC. Different use cases. Immunai's VDJ supports clinical biomarker discovery on patient samples; our phospho supports drug combination mechanism prediction. Phase 2 closes the VDJ gap on our side; their phospho gap is structural — they don't generate it because they don't have a proprietary wet-lab pipeline for phospho measurement. The modality presence question is necessary but not sufficient — what matters is how the modality integrates with the rest of the platform.</a:t>
            </a:r>
          </a:p>
          <a:p/>
          <a:p>
            <a:r>
              <a:t>If asked: "Why does phospho matter? What does it give you that RNA + protein don't?"</a:t>
            </a:r>
          </a:p>
          <a:p/>
          <a:p>
            <a:r>
              <a:t>Phospho measures kinase activation state — the immediate signaling response to a perturbation, before transcriptional changes propagate. For drug combination prediction in pathway-driven diseases like CLL, phospho is the readout that distinguishes additive effects ("drug A and drug B affect the same kinase") from synergistic effects ("drug A blocks JAK and drug B blocks BTK so the combination hits both arms of the BCR pathway"). RNA shows downstream consequences hours later; phospho shows immediate mechanism in minutes. The 5-minute timepoint in QuRIE-seq Phase 1 captures phospho responses that no other dataset measures at single-cell resolution on primary PBMCs.</a:t>
            </a:r>
          </a:p>
          <a:p/>
          <a:p>
            <a:r>
              <a:t>If asked: "Most of these competitors have $50M+ pharma deals. You have zero. Why?"</a:t>
            </a:r>
          </a:p>
          <a:p/>
          <a:p>
            <a:r>
              <a:t>True today and disclosed in our research doc. Two reasons. First, we're seed-stage; pharma deals tend to follow architectural validation milestones, which our roadmap places at Stage 3b (BTK+JAK demo Q4 2026) and Stage 4 (multi-disease transfer 2027). Second, the pharma BD pipeline is a Stage 4-5 deliverable on our roadmap (D1) with $1M allocated in seed (D2). We're not pre-revenue by accident; we're pre-revenue by design. Pharma partnerships materialize when the platform has shipped the demos that justify them. That sequence is on the roadmap.</a:t>
            </a:r>
          </a:p>
          <a:p/>
          <a:p>
            <a:r>
              <a:t>If asked: "Where are your peer-reviewed publications?"</a:t>
            </a:r>
          </a:p>
          <a:p/>
          <a:p>
            <a:r>
              <a:t>Stage 3 verdict + BTK+JAK demo go to peer-reviewed publication in Q4 2026 — it's explicit on the D1 roadmap. Today's evidence is on GitHub: architecture spec v1.1, Phase 6.5g.2 closure report with dual-conclusion methodology, Stage 3 Part 1 verdict, pre-registered eval thresholds, working implementation with 87 unit tests. We chose to ship reproducible architecture before ship a paper. The paper follows the data, not the other way around — that's discipline, not absence of evidence.</a:t>
            </a:r>
          </a:p>
          <a:p/>
          <a:p>
            <a:r>
              <a:t>If asked: "Aren't you just one of many AI biotechs?"</a:t>
            </a:r>
          </a:p>
          <a:p/>
          <a:p>
            <a:r>
              <a:t>AI biotech is a category. Inside it, companies cluster by what they optimize: data scale (TAHOE), modality breadth (Immunai), foundation models (CytoReason, Turbine, DeepLife), clinical pipelines (Valo, Noetik, Cellarity). We sit alone in the category that optimizes the closed-loop integrated platform — proprietary wet-lab data generation + architecture co-designed with the assay + temporal multi-omics + compositional perturbation modeling + protocol-family expansion. The category isn't crowded; the category is empty except for us.</a:t>
            </a:r>
          </a:p>
          <a:p/>
          <a:p>
            <a:r>
              <a:t>If asked: "Why is integration the moat? Couldn't a competitor build all five layers?"</a:t>
            </a:r>
          </a:p>
          <a:p/>
          <a:p>
            <a:r>
              <a:t>They could. The question is timing and coordination cost. Building a wet-lab pipeline producing single-cell multi-omics perturbation data, architecting a model to consume it, and running them as one feedback loop requires three coordinated bets simultaneously. Most teams chose one bet — that's why the competitive map fragments by optimization axis. Catching us up means starting all three simultaneously and waiting 2-3 years for the integration to compound. Meanwhile we're shipping QurieSeq Phase 1 in Q3 2026, Phase 2 in 2027, and our architecture is already validated cross-corpus at 73% with the adapter strategy locked. The integration is the moat because every quarter widens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377440"/>
            <a:ext cx="10972800" cy="457200"/>
          </a:xfrm>
          <a:prstGeom prst="rect">
            <a:avLst/>
          </a:prstGeom>
          <a:noFill/>
        </p:spPr>
        <p:txBody>
          <a:bodyPr wrap="square" lIns="0" rIns="0" tIns="0" bIns="0">
            <a:spAutoFit/>
          </a:bodyPr>
          <a:lstStyle/>
          <a:p>
            <a:pPr algn="l"/>
            <a:r>
              <a:rPr sz="1800" b="1" i="0" spc="540">
                <a:solidFill>
                  <a:srgbClr val="26DDF9"/>
                </a:solidFill>
                <a:latin typeface="Inter"/>
              </a:rPr>
              <a:t>APPENDIX</a:t>
            </a:r>
          </a:p>
        </p:txBody>
      </p:sp>
      <p:sp>
        <p:nvSpPr>
          <p:cNvPr id="3" name="TextBox 2"/>
          <p:cNvSpPr txBox="1"/>
          <p:nvPr/>
        </p:nvSpPr>
        <p:spPr>
          <a:xfrm>
            <a:off x="731520" y="2834640"/>
            <a:ext cx="10972800" cy="914400"/>
          </a:xfrm>
          <a:prstGeom prst="rect">
            <a:avLst/>
          </a:prstGeom>
          <a:noFill/>
        </p:spPr>
        <p:txBody>
          <a:bodyPr wrap="square" lIns="0" rIns="0" tIns="0" bIns="0">
            <a:spAutoFit/>
          </a:bodyPr>
          <a:lstStyle/>
          <a:p>
            <a:pPr algn="l"/>
            <a:r>
              <a:rPr sz="4400" b="1" i="0">
                <a:solidFill>
                  <a:srgbClr val="F7FAFF"/>
                </a:solidFill>
                <a:latin typeface="Inter"/>
              </a:rPr>
              <a:t>AIVC GeneLink — Technical Appendix</a:t>
            </a:r>
          </a:p>
        </p:txBody>
      </p:sp>
      <p:cxnSp>
        <p:nvCxnSpPr>
          <p:cNvPr id="4" name="Connector 3"/>
          <p:cNvCxnSpPr/>
          <p:nvPr/>
        </p:nvCxnSpPr>
        <p:spPr>
          <a:xfrm>
            <a:off x="731520" y="3886200"/>
            <a:ext cx="41148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069080"/>
            <a:ext cx="10972800" cy="822960"/>
          </a:xfrm>
          <a:prstGeom prst="rect">
            <a:avLst/>
          </a:prstGeom>
          <a:noFill/>
        </p:spPr>
        <p:txBody>
          <a:bodyPr wrap="square" lIns="0" rIns="0" tIns="0" bIns="0">
            <a:spAutoFit/>
          </a:bodyPr>
          <a:lstStyle/>
          <a:p>
            <a:pPr algn="l"/>
            <a:r>
              <a:rPr sz="1800" b="0" i="0">
                <a:solidFill>
                  <a:srgbClr val="A8B4C2"/>
                </a:solidFill>
                <a:latin typeface="Arial"/>
              </a:rPr>
              <a:t>Architecture Depth  ·  Validation Evidence  ·  QurieSeq Phase 1  ·  Roadmap + Budget  ·  Strategic Horizon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1" i="0" spc="280">
                <a:solidFill>
                  <a:srgbClr val="26DDF9"/>
                </a:solidFill>
                <a:latin typeface="Inter"/>
              </a:rPr>
              <a:t>Quriegen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A</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Architecture Depth</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the model works · what's frozen, what trains, what generalizes</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A1 – A5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1_system_architectur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2_encoder_evidenc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3_decomposed_readou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4_temporal_dynamics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5_causal_architectur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4ADE80"/>
                </a:solidFill>
                <a:latin typeface="Inter"/>
              </a:rPr>
              <a:t>SECTION B</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Validation Evidence</a:t>
            </a:r>
          </a:p>
        </p:txBody>
      </p:sp>
      <p:cxnSp>
        <p:nvCxnSpPr>
          <p:cNvPr id="4" name="Connector 3"/>
          <p:cNvCxnSpPr/>
          <p:nvPr/>
        </p:nvCxnSpPr>
        <p:spPr>
          <a:xfrm>
            <a:off x="731520" y="3977639"/>
            <a:ext cx="4572000" cy="0"/>
          </a:xfrm>
          <a:prstGeom prst="line">
            <a:avLst/>
          </a:prstGeom>
          <a:ln w="19050">
            <a:solidFill>
              <a:srgbClr val="4ADE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we test — three datasets, pre-registered evals, no cherry-picking</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B1 – B3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1_three_datasets_methodolog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2_adapter_verdic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3_mechanism_pre_demo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C</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QurieSeq Phase 1</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The proprietary data engine · 5 donors × 5 timepoints × 4-arm × ~500K cells · BTK+JAK confirmed</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C1 – C2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1_phase1_experimental_desig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2_btk_jak_demo_pla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B47DF0"/>
                </a:solidFill>
                <a:latin typeface="Inter"/>
              </a:rPr>
              <a:t>SECTION D</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Roadmap + Budget</a:t>
            </a:r>
          </a:p>
        </p:txBody>
      </p:sp>
      <p:cxnSp>
        <p:nvCxnSpPr>
          <p:cNvPr id="4" name="Connector 3"/>
          <p:cNvCxnSpPr/>
          <p:nvPr/>
        </p:nvCxnSpPr>
        <p:spPr>
          <a:xfrm>
            <a:off x="731520" y="3977639"/>
            <a:ext cx="4572000" cy="0"/>
          </a:xfrm>
          <a:prstGeom prst="line">
            <a:avLst/>
          </a:prstGeom>
          <a:ln w="19050">
            <a:solidFill>
              <a:srgbClr val="B47DF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11 quarters · 5 stages · 2 drug pipelines · $10M seed allocation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D1 – D2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1_quarterly_roadmap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2_seed_allocatio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EAF6FF"/>
                </a:solidFill>
                <a:latin typeface="Inter"/>
              </a:rPr>
              <a:t>SECTION E</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Strategic Horizon</a:t>
            </a:r>
          </a:p>
        </p:txBody>
      </p:sp>
      <p:cxnSp>
        <p:nvCxnSpPr>
          <p:cNvPr id="4" name="Connector 3"/>
          <p:cNvCxnSpPr/>
          <p:nvPr/>
        </p:nvCxnSpPr>
        <p:spPr>
          <a:xfrm>
            <a:off x="731520" y="3977639"/>
            <a:ext cx="4572000" cy="0"/>
          </a:xfrm>
          <a:prstGeom prst="line">
            <a:avLst/>
          </a:prstGeom>
          <a:ln w="19050">
            <a:solidFill>
              <a:srgbClr val="EAF6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From validated platform to first-in-class candidates · 2026 → 2031</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 E1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E1_five_year_trajector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FBBF24"/>
                </a:solidFill>
                <a:latin typeface="Inter"/>
              </a:rPr>
              <a:t>SECTION F</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Competitive Positioning</a:t>
            </a:r>
          </a:p>
        </p:txBody>
      </p:sp>
      <p:cxnSp>
        <p:nvCxnSpPr>
          <p:cNvPr id="4" name="Connector 3"/>
          <p:cNvCxnSpPr/>
          <p:nvPr/>
        </p:nvCxnSpPr>
        <p:spPr>
          <a:xfrm>
            <a:off x="731520" y="3977639"/>
            <a:ext cx="4572000" cy="0"/>
          </a:xfrm>
          <a:prstGeom prst="line">
            <a:avLst/>
          </a:prstGeom>
          <a:ln w="19050">
            <a:solidFill>
              <a:srgbClr val="FBBF2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Why us · the closed-loop integrated platform · proprietary data, co-designed architecture, compounding over time</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 F1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F1_integrated_platform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