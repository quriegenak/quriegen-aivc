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AIVC Mechanica — Board-level walk-through (90-120 seconds)</a:t>
            </a:r>
          </a:p>
          <a:p/>
          <a:p>
            <a:r>
              <a:t>OPENING (15s):</a:t>
            </a:r>
          </a:p>
          <a:p>
            <a:r>
              <a:t>"AIVC has two complementary intelligence layers. GeneLink learns biological</a:t>
            </a:r>
          </a:p>
          <a:p>
            <a:r>
              <a:t>relationships from data. Mechanica models how biology behaves under perturbation</a:t>
            </a:r>
          </a:p>
          <a:p>
            <a:r>
              <a:t>over time. Together they are the foundation of our digital cell vision."</a:t>
            </a:r>
          </a:p>
          <a:p/>
          <a:p>
            <a:r>
              <a:t>LEFT COLUMN — TODAY (20s):</a:t>
            </a:r>
          </a:p>
          <a:p>
            <a:r>
              <a:t>"Today, our multi-omics encoder + GeneLink answer the question 'what biological</a:t>
            </a:r>
          </a:p>
          <a:p>
            <a:r>
              <a:t>relationships exist?' We've validated 73% cross-corpus encoder generalization</a:t>
            </a:r>
          </a:p>
          <a:p>
            <a:r>
              <a:t>and 57% four-way synergy classification on public perturbation data. This is</a:t>
            </a:r>
          </a:p>
          <a:p>
            <a:r>
              <a:t>our learned foundation."</a:t>
            </a:r>
          </a:p>
          <a:p/>
          <a:p>
            <a:r>
              <a:t>MIDDLE COLUMN — EXPANSION (30s):</a:t>
            </a:r>
          </a:p>
          <a:p>
            <a:r>
              <a:t>"Mechanica is our next expansion. It adds the dynamic layer underneath GeneLink:</a:t>
            </a:r>
          </a:p>
          <a:p>
            <a:r>
              <a:t>signaling dynamics, reaction kinetics, cell-state transitions, and crucially —</a:t>
            </a:r>
          </a:p>
          <a:p>
            <a:r>
              <a:t>resistance evolution and combination therapy effects. Where GeneLink answers</a:t>
            </a:r>
          </a:p>
          <a:p>
            <a:r>
              <a:t>'what relationships,' Mechanica answers 'what happens when we perturb over time.'</a:t>
            </a:r>
          </a:p>
          <a:p>
            <a:r>
              <a:t>This is physics-informed simulation, constrained by mechanistic priors, operating</a:t>
            </a:r>
          </a:p>
          <a:p>
            <a:r>
              <a:t>on the same latent state space as GeneLink. Shared encoder. Two reasoning modes."</a:t>
            </a:r>
          </a:p>
          <a:p/>
          <a:p>
            <a:r>
              <a:t>RIGHT COLUMN — FUTURE (20s):</a:t>
            </a:r>
          </a:p>
          <a:p>
            <a:r>
              <a:t>"Mechanica is the engine that makes digital cells real. Once we can simulate</a:t>
            </a:r>
          </a:p>
          <a:p>
            <a:r>
              <a:t>perturbation dynamics with mechanistic confidence intervals, three capabilities</a:t>
            </a:r>
          </a:p>
          <a:p>
            <a:r>
              <a:t>unlock: digital cells we can query in silico, virtual perturbation experiments</a:t>
            </a:r>
          </a:p>
          <a:p>
            <a:r>
              <a:t>that replace bench work, and ultimately digital tissue twins for multi-cellular</a:t>
            </a:r>
          </a:p>
          <a:p>
            <a:r>
              <a:t>context."</a:t>
            </a:r>
          </a:p>
          <a:p/>
          <a:p>
            <a:r>
              <a:t>CUSTOMER VALUE (15s):</a:t>
            </a:r>
          </a:p>
          <a:p>
            <a:r>
              <a:t>"For our pharma partners, this translates to four concrete value props: better</a:t>
            </a:r>
          </a:p>
          <a:p>
            <a:r>
              <a:t>target prioritization through mechanism-aware ranking, earlier resistance</a:t>
            </a:r>
          </a:p>
          <a:p>
            <a:r>
              <a:t>prediction via simulated evolution, rational combination design driven by</a:t>
            </a:r>
          </a:p>
          <a:p>
            <a:r>
              <a:t>kinetic priors, and reduced experimental burden — predicting before measuring."</a:t>
            </a:r>
          </a:p>
          <a:p/>
          <a:p>
            <a:r>
              <a:t>CLOSE (10s):</a:t>
            </a:r>
          </a:p>
          <a:p>
            <a:r>
              <a:t>"Mechanica is not a competitor to GeneLink. It is the layer that lets GeneLink</a:t>
            </a:r>
          </a:p>
          <a:p>
            <a:r>
              <a:t>extrapolate beyond what we've observed. Together they are AIVC's path from</a:t>
            </a:r>
          </a:p>
          <a:p>
            <a:r>
              <a:t>'learned biology' to 'computable biology.'"</a:t>
            </a:r>
          </a:p>
          <a:p/>
          <a:p>
            <a:r>
              <a:t>EXPECTED DILIGENCE QUESTIONS:</a:t>
            </a:r>
          </a:p>
          <a:p>
            <a:r>
              <a:t>- "How is this different from CytoReason?" → CytoReason is literature-curated;</a:t>
            </a:r>
          </a:p>
          <a:p>
            <a:r>
              <a:t>  Mechanica is learned-from-data with mechanistic priors. Our rate constants</a:t>
            </a:r>
          </a:p>
          <a:p>
            <a:r>
              <a:t>  come from QuRIE-seq phospho timecourse — measured, not assumed.</a:t>
            </a:r>
          </a:p>
          <a:p>
            <a:r>
              <a:t>- "When does Mechanica ship?" → Phase 2 deliverable; first integration with</a:t>
            </a:r>
          </a:p>
          <a:p>
            <a:r>
              <a:t>  GeneLink Stage 3c causal architecture (Q1-Q2 2027).</a:t>
            </a:r>
          </a:p>
          <a:p>
            <a:r>
              <a:t>- "What's the proof point on seed?" → Stage 3c resistance-prediction benchmark</a:t>
            </a:r>
          </a:p>
          <a:p>
            <a:r>
              <a:t>  with Mechanica priors vs learned-only baseline. Quantitative delta.</a:t>
            </a:r>
          </a:p>
          <a:p>
            <a:r>
              <a:t>- "Risk?" → Mechanistic ML for biology has a mixed empirical track record.</a:t>
            </a:r>
          </a:p>
          <a:p>
            <a:r>
              <a:t>  We bench from day one against learned-only.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AIVC Mechanica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A0AFC8"/>
                </a:solidFill>
                <a:latin typeface="Calibri"/>
              </a:rPr>
              <a:t>The Mechanistic Intelligence Layer of AIVC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441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00">
                <a:solidFill>
                  <a:srgbClr val="26DDF9"/>
                </a:solidFill>
                <a:latin typeface="Calibri"/>
              </a:rPr>
              <a:t>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371600" cy="45720"/>
          </a:xfrm>
          <a:prstGeom prst="rect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6DDF9"/>
                </a:solidFill>
                <a:latin typeface="Calibri"/>
              </a:rPr>
              <a:t>Multi-Omics → GeneLink</a:t>
            </a:r>
          </a:p>
        </p:txBody>
      </p:sp>
      <p:sp>
        <p:nvSpPr>
          <p:cNvPr id="8" name="Oval 7"/>
          <p:cNvSpPr/>
          <p:nvPr/>
        </p:nvSpPr>
        <p:spPr>
          <a:xfrm>
            <a:off x="2061972" y="2770632"/>
            <a:ext cx="310896" cy="310896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A0AFC8"/>
                </a:solidFill>
                <a:latin typeface="Calibri"/>
              </a:rPr>
              <a:t>What biological relationships exist?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3337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Multi-omics encoder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Learned causal relationships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Validated on public + proprietary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00">
                <a:solidFill>
                  <a:srgbClr val="8B5CF6"/>
                </a:solidFill>
                <a:latin typeface="Calibri"/>
              </a:rPr>
              <a:t>EXPANSION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03120"/>
            <a:ext cx="13716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2860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8B5CF6"/>
                </a:solidFill>
                <a:latin typeface="Calibri"/>
              </a:rPr>
              <a:t>AIVC Mechanica</a:t>
            </a:r>
          </a:p>
        </p:txBody>
      </p:sp>
      <p:sp>
        <p:nvSpPr>
          <p:cNvPr id="14" name="Diamond 13"/>
          <p:cNvSpPr/>
          <p:nvPr/>
        </p:nvSpPr>
        <p:spPr>
          <a:xfrm>
            <a:off x="5948172" y="2770632"/>
            <a:ext cx="310896" cy="310896"/>
          </a:xfrm>
          <a:prstGeom prst="diamond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3375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A0AFC8"/>
                </a:solidFill>
                <a:latin typeface="Calibri"/>
              </a:rPr>
              <a:t>What happens when the system is perturbed over time?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703320"/>
            <a:ext cx="3337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Signaling dynamics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Reaction kinetics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Cell-state transitions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Resistance evolution + combo effects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830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00">
                <a:solidFill>
                  <a:srgbClr val="F59E0B"/>
                </a:solidFill>
                <a:latin typeface="Calibri"/>
              </a:rPr>
              <a:t>FUTURE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10312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2860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59E0B"/>
                </a:solidFill>
                <a:latin typeface="Calibri"/>
              </a:rPr>
              <a:t>Digital Cell Engine</a:t>
            </a:r>
          </a:p>
        </p:txBody>
      </p:sp>
      <p:sp>
        <p:nvSpPr>
          <p:cNvPr id="20" name="Isosceles Triangle 19"/>
          <p:cNvSpPr/>
          <p:nvPr/>
        </p:nvSpPr>
        <p:spPr>
          <a:xfrm>
            <a:off x="9788652" y="2770632"/>
            <a:ext cx="310896" cy="310896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3375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A0AFC8"/>
                </a:solidFill>
                <a:latin typeface="Calibri"/>
              </a:rPr>
              <a:t>What can be computed instead of measured?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703320"/>
            <a:ext cx="3337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Digital Cells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Virtual Perturbation Experiments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Digital Tissue Twins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77639" y="2926080"/>
            <a:ext cx="411481" cy="0"/>
          </a:xfrm>
          <a:prstGeom prst="line">
            <a:avLst/>
          </a:prstGeom>
          <a:ln w="19050">
            <a:solidFill>
              <a:srgbClr val="A0AF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18120" y="2926080"/>
            <a:ext cx="411480" cy="0"/>
          </a:xfrm>
          <a:prstGeom prst="line">
            <a:avLst/>
          </a:prstGeom>
          <a:ln w="19050">
            <a:solidFill>
              <a:srgbClr val="A0AF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8640" y="4937760"/>
            <a:ext cx="1109441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074920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00">
                <a:solidFill>
                  <a:srgbClr val="4ADE80"/>
                </a:solidFill>
                <a:latin typeface="Calibri"/>
              </a:rPr>
              <a:t>CUSTOMER VALUE</a:t>
            </a:r>
          </a:p>
        </p:txBody>
      </p:sp>
      <p:sp>
        <p:nvSpPr>
          <p:cNvPr id="27" name="Diamond 26"/>
          <p:cNvSpPr/>
          <p:nvPr/>
        </p:nvSpPr>
        <p:spPr>
          <a:xfrm>
            <a:off x="1572768" y="5413248"/>
            <a:ext cx="237744" cy="237744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57607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Better Target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Prioritization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" y="6199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Mechanism-aware ranking</a:t>
            </a:r>
          </a:p>
        </p:txBody>
      </p:sp>
      <p:sp>
        <p:nvSpPr>
          <p:cNvPr id="30" name="Diamond 29"/>
          <p:cNvSpPr/>
          <p:nvPr/>
        </p:nvSpPr>
        <p:spPr>
          <a:xfrm>
            <a:off x="4636008" y="5413248"/>
            <a:ext cx="237744" cy="237744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57607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Earlier Resistance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Prediction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6199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Simulate evolution in silico</a:t>
            </a:r>
          </a:p>
        </p:txBody>
      </p:sp>
      <p:sp>
        <p:nvSpPr>
          <p:cNvPr id="33" name="Diamond 32"/>
          <p:cNvSpPr/>
          <p:nvPr/>
        </p:nvSpPr>
        <p:spPr>
          <a:xfrm>
            <a:off x="7699248" y="5413248"/>
            <a:ext cx="237744" cy="237744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7607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Rational Combination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6199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Kinetic-prior screening</a:t>
            </a:r>
          </a:p>
        </p:txBody>
      </p:sp>
      <p:sp>
        <p:nvSpPr>
          <p:cNvPr id="36" name="Diamond 35"/>
          <p:cNvSpPr/>
          <p:nvPr/>
        </p:nvSpPr>
        <p:spPr>
          <a:xfrm>
            <a:off x="10716767" y="5413248"/>
            <a:ext cx="237744" cy="237744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57607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Reduced Experimental</a:t>
            </a:r>
          </a:p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Burden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6199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Predict before you measure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65392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607088"/>
                </a:solidFill>
                <a:latin typeface="Calibri"/>
              </a:rPr>
              <a:t>Mechanica becomes the computational engine powering digital cells and digital tissue twins.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