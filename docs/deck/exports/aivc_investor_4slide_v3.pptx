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AIVC Platform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>
                <a:solidFill>
                  <a:srgbClr val="A0AFC8"/>
                </a:solidFill>
                <a:latin typeface="Calibri"/>
              </a:rPr>
              <a:t>From public benchmarking to scalable causal biological intelligence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377440" y="1920240"/>
            <a:ext cx="3749040" cy="0"/>
          </a:xfrm>
          <a:prstGeom prst="line">
            <a:avLst/>
          </a:prstGeom>
          <a:ln w="31750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26480" y="1920240"/>
            <a:ext cx="3749040" cy="0"/>
          </a:xfrm>
          <a:prstGeom prst="line">
            <a:avLst/>
          </a:prstGeom>
          <a:ln w="31750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75520" y="1920240"/>
            <a:ext cx="1371600" cy="0"/>
          </a:xfrm>
          <a:prstGeom prst="line">
            <a:avLst/>
          </a:prstGeom>
          <a:ln w="31750">
            <a:solidFill>
              <a:srgbClr val="2D3A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247120" y="1920240"/>
            <a:ext cx="365760" cy="0"/>
          </a:xfrm>
          <a:prstGeom prst="line">
            <a:avLst/>
          </a:prstGeom>
          <a:ln w="19050">
            <a:solidFill>
              <a:srgbClr val="2D3A57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943600" y="1737360"/>
            <a:ext cx="365760" cy="365760"/>
          </a:xfrm>
          <a:prstGeom prst="ellipse">
            <a:avLst/>
          </a:prstGeom>
          <a:noFill/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6856" y="1819656"/>
            <a:ext cx="201168" cy="201168"/>
          </a:xfrm>
          <a:prstGeom prst="ellipse">
            <a:avLst/>
          </a:prstGeom>
          <a:solidFill>
            <a:srgbClr val="26D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25896" y="1819656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74936" y="1819656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46536" y="1819656"/>
            <a:ext cx="201168" cy="201168"/>
          </a:xfrm>
          <a:prstGeom prst="ellipse">
            <a:avLst/>
          </a:prstGeom>
          <a:solidFill>
            <a:srgbClr val="607088"/>
          </a:solidFill>
          <a:ln w="12700">
            <a:solidFill>
              <a:srgbClr val="FFFF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11226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spc="100">
                <a:solidFill>
                  <a:srgbClr val="26DDF9"/>
                </a:solidFill>
                <a:latin typeface="Calibri"/>
              </a:rPr>
              <a:t>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11226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spc="100">
                <a:solidFill>
                  <a:srgbClr val="8B5CF6"/>
                </a:solidFill>
                <a:latin typeface="Calibri"/>
              </a:rPr>
              <a:t>PHASE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11226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spc="100">
                <a:solidFill>
                  <a:srgbClr val="F59E0B"/>
                </a:solidFill>
                <a:latin typeface="Calibri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11226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A0AFC8"/>
                </a:solidFill>
                <a:latin typeface="Calibri"/>
              </a:rPr>
              <a:t>Phase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88920"/>
            <a:ext cx="1371600" cy="54864"/>
          </a:xfrm>
          <a:prstGeom prst="rect">
            <a:avLst/>
          </a:prstGeom>
          <a:solidFill>
            <a:srgbClr val="26D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9718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spc="100">
                <a:solidFill>
                  <a:srgbClr val="26DDF9"/>
                </a:solidFill>
                <a:latin typeface="Calibri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Public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benchmarking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32918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3 reference papers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Pretrained encoder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73% cross-corpus 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2788920"/>
            <a:ext cx="137160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9718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spc="100">
                <a:solidFill>
                  <a:srgbClr val="8B5CF6"/>
                </a:solidFill>
                <a:latin typeface="Calibri"/>
              </a:rPr>
              <a:t>PHASE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4747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Proprietary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perturbation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434840"/>
            <a:ext cx="32918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QuRIE-seq multi-omics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3 modalities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5 donors · 5 timepoints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5 stimuli · 10 inhibitors</a:t>
            </a:r>
          </a:p>
          <a:p>
            <a:pPr algn="l">
              <a:lnSpc>
                <a:spcPct val="145000"/>
              </a:lnSpc>
            </a:pPr>
            <a:r>
              <a:rPr sz="1500" b="1" i="0">
                <a:solidFill>
                  <a:srgbClr val="8B5CF6"/>
                </a:solidFill>
                <a:latin typeface="Calibri"/>
              </a:rPr>
              <a:t>BTK + JAK demo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788920"/>
            <a:ext cx="13716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9718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spc="100">
                <a:solidFill>
                  <a:srgbClr val="F59E0B"/>
                </a:solidFill>
                <a:latin typeface="Calibri"/>
              </a:rPr>
              <a:t>PHASE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4747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Scaled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causal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discovery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434840"/>
            <a:ext cx="32918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+ CRISPR + VDJ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5 modalities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20–25 donors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Soft + hard perturbations</a:t>
            </a:r>
          </a:p>
          <a:p>
            <a:pPr algn="l">
              <a:lnSpc>
                <a:spcPct val="145000"/>
              </a:lnSpc>
            </a:pPr>
            <a:r>
              <a:rPr sz="1500" b="1" i="0">
                <a:solidFill>
                  <a:srgbClr val="F59E0B"/>
                </a:solidFill>
                <a:latin typeface="Calibri"/>
              </a:rPr>
              <a:t>CRISPR screening library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63640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1">
                <a:solidFill>
                  <a:srgbClr val="607088"/>
                </a:solidFill>
                <a:latin typeface="Calibri"/>
              </a:rPr>
              <a:t>Phase 3</a:t>
            </a:r>
            <a:r>
              <a:rPr sz="1300" b="0" i="1">
                <a:solidFill>
                  <a:srgbClr val="607088"/>
                </a:solidFill>
                <a:latin typeface="Calibri"/>
              </a:rPr>
              <a:t> — Continuation at scale + therapeutic pipeline 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Causal Biological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>
                <a:solidFill>
                  <a:srgbClr val="A0AFC8"/>
                </a:solidFill>
                <a:latin typeface="Calibri"/>
              </a:rPr>
              <a:t>First learn structure. Then learn how signals flow.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60320" y="2057400"/>
            <a:ext cx="914400" cy="502920"/>
          </a:xfrm>
          <a:prstGeom prst="line">
            <a:avLst/>
          </a:prstGeom>
          <a:ln w="19050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554479" y="2057400"/>
            <a:ext cx="1005841" cy="502920"/>
          </a:xfrm>
          <a:prstGeom prst="line">
            <a:avLst/>
          </a:prstGeom>
          <a:ln w="19050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2514600" y="2057400"/>
            <a:ext cx="45720" cy="1097280"/>
          </a:xfrm>
          <a:prstGeom prst="line">
            <a:avLst/>
          </a:prstGeom>
          <a:ln w="19050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74720" y="2560320"/>
            <a:ext cx="91440" cy="960120"/>
          </a:xfrm>
          <a:prstGeom prst="line">
            <a:avLst/>
          </a:prstGeom>
          <a:ln w="19050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514600" y="2560320"/>
            <a:ext cx="960120" cy="594360"/>
          </a:xfrm>
          <a:prstGeom prst="line">
            <a:avLst/>
          </a:prstGeom>
          <a:ln w="19050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063239" y="2560320"/>
            <a:ext cx="411481" cy="228600"/>
          </a:xfrm>
          <a:prstGeom prst="line">
            <a:avLst/>
          </a:prstGeom>
          <a:ln w="19050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926079" y="3520440"/>
            <a:ext cx="640081" cy="548640"/>
          </a:xfrm>
          <a:prstGeom prst="line">
            <a:avLst/>
          </a:prstGeom>
          <a:ln w="19050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2514600" y="3154680"/>
            <a:ext cx="1051560" cy="365760"/>
          </a:xfrm>
          <a:prstGeom prst="line">
            <a:avLst/>
          </a:prstGeom>
          <a:ln w="19050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194560" y="4069080"/>
            <a:ext cx="731519" cy="45720"/>
          </a:xfrm>
          <a:prstGeom prst="line">
            <a:avLst/>
          </a:prstGeom>
          <a:ln w="19050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2514600" y="3154680"/>
            <a:ext cx="411479" cy="914400"/>
          </a:xfrm>
          <a:prstGeom prst="line">
            <a:avLst/>
          </a:prstGeom>
          <a:ln w="19050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1600199" y="3566160"/>
            <a:ext cx="594361" cy="548640"/>
          </a:xfrm>
          <a:prstGeom prst="line">
            <a:avLst/>
          </a:prstGeom>
          <a:ln w="19050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194560" y="3154680"/>
            <a:ext cx="320040" cy="960120"/>
          </a:xfrm>
          <a:prstGeom prst="line">
            <a:avLst/>
          </a:prstGeom>
          <a:ln w="19050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554479" y="2560320"/>
            <a:ext cx="45720" cy="1005840"/>
          </a:xfrm>
          <a:prstGeom prst="line">
            <a:avLst/>
          </a:prstGeom>
          <a:ln w="19050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600199" y="3154680"/>
            <a:ext cx="914401" cy="411480"/>
          </a:xfrm>
          <a:prstGeom prst="line">
            <a:avLst/>
          </a:prstGeom>
          <a:ln w="19050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54479" y="2560320"/>
            <a:ext cx="960121" cy="594360"/>
          </a:xfrm>
          <a:prstGeom prst="line">
            <a:avLst/>
          </a:prstGeom>
          <a:ln w="19050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514600" y="2788920"/>
            <a:ext cx="548639" cy="365760"/>
          </a:xfrm>
          <a:prstGeom prst="line">
            <a:avLst/>
          </a:prstGeom>
          <a:ln w="19050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414015" y="1911095"/>
            <a:ext cx="292608" cy="292608"/>
          </a:xfrm>
          <a:prstGeom prst="ellipse">
            <a:avLst/>
          </a:prstGeom>
          <a:solidFill>
            <a:srgbClr val="26D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28415" y="2414015"/>
            <a:ext cx="292608" cy="292608"/>
          </a:xfrm>
          <a:prstGeom prst="ellipse">
            <a:avLst/>
          </a:prstGeom>
          <a:solidFill>
            <a:srgbClr val="26D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19856" y="3374136"/>
            <a:ext cx="292608" cy="292608"/>
          </a:xfrm>
          <a:prstGeom prst="ellipse">
            <a:avLst/>
          </a:prstGeom>
          <a:solidFill>
            <a:srgbClr val="26D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79775" y="3922776"/>
            <a:ext cx="292608" cy="292608"/>
          </a:xfrm>
          <a:prstGeom prst="ellipse">
            <a:avLst/>
          </a:prstGeom>
          <a:solidFill>
            <a:srgbClr val="26D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48255" y="3968496"/>
            <a:ext cx="292608" cy="292608"/>
          </a:xfrm>
          <a:prstGeom prst="ellipse">
            <a:avLst/>
          </a:prstGeom>
          <a:solidFill>
            <a:srgbClr val="26D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53895" y="3419856"/>
            <a:ext cx="292608" cy="292608"/>
          </a:xfrm>
          <a:prstGeom prst="ellipse">
            <a:avLst/>
          </a:prstGeom>
          <a:solidFill>
            <a:srgbClr val="26D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08175" y="2414015"/>
            <a:ext cx="292608" cy="292608"/>
          </a:xfrm>
          <a:prstGeom prst="ellipse">
            <a:avLst/>
          </a:prstGeom>
          <a:solidFill>
            <a:srgbClr val="26D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368296" y="3008376"/>
            <a:ext cx="292608" cy="292608"/>
          </a:xfrm>
          <a:prstGeom prst="ellipse">
            <a:avLst/>
          </a:prstGeom>
          <a:solidFill>
            <a:srgbClr val="26D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16935" y="2642616"/>
            <a:ext cx="292608" cy="292608"/>
          </a:xfrm>
          <a:prstGeom prst="ellipse">
            <a:avLst/>
          </a:prstGeom>
          <a:solidFill>
            <a:srgbClr val="26D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9644363" y="2131431"/>
            <a:ext cx="645193" cy="354857"/>
          </a:xfrm>
          <a:prstGeom prst="line">
            <a:avLst/>
          </a:prstGeom>
          <a:ln w="38100">
            <a:solidFill>
              <a:srgbClr val="8B5CF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8641321" y="2126100"/>
            <a:ext cx="731037" cy="365519"/>
          </a:xfrm>
          <a:prstGeom prst="line">
            <a:avLst/>
          </a:prstGeom>
          <a:ln w="38100">
            <a:solidFill>
              <a:srgbClr val="8B5CF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9470435" y="2210886"/>
            <a:ext cx="32929" cy="790307"/>
          </a:xfrm>
          <a:prstGeom prst="line">
            <a:avLst/>
          </a:prstGeom>
          <a:ln w="38100">
            <a:solidFill>
              <a:srgbClr val="8B5CF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438724" y="2713247"/>
            <a:ext cx="62311" cy="654265"/>
          </a:xfrm>
          <a:prstGeom prst="line">
            <a:avLst/>
          </a:prstGeom>
          <a:ln w="25400">
            <a:solidFill>
              <a:srgbClr val="8B5CF6">
                <a:alpha val="70000"/>
              </a:srgb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9594657" y="2641178"/>
            <a:ext cx="698885" cy="432643"/>
          </a:xfrm>
          <a:prstGeom prst="line">
            <a:avLst/>
          </a:prstGeom>
          <a:ln w="12700">
            <a:solidFill>
              <a:srgbClr val="2D3A5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0146967" y="2634924"/>
            <a:ext cx="142905" cy="79391"/>
          </a:xfrm>
          <a:prstGeom prst="line">
            <a:avLst/>
          </a:prstGeom>
          <a:ln w="12700">
            <a:solidFill>
              <a:srgbClr val="2D3A5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9992156" y="3620414"/>
            <a:ext cx="406807" cy="348691"/>
          </a:xfrm>
          <a:prstGeom prst="line">
            <a:avLst/>
          </a:prstGeom>
          <a:ln w="12700">
            <a:solidFill>
              <a:srgbClr val="2D3A5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9609132" y="3205147"/>
            <a:ext cx="761375" cy="264825"/>
          </a:xfrm>
          <a:prstGeom prst="line">
            <a:avLst/>
          </a:prstGeom>
          <a:ln w="12700">
            <a:solidFill>
              <a:srgbClr val="2D3A5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9297320" y="4078662"/>
            <a:ext cx="424879" cy="26555"/>
          </a:xfrm>
          <a:prstGeom prst="line">
            <a:avLst/>
          </a:prstGeom>
          <a:ln w="12700">
            <a:solidFill>
              <a:srgbClr val="2D3A5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9527079" y="3294768"/>
            <a:ext cx="285401" cy="634223"/>
          </a:xfrm>
          <a:prstGeom prst="line">
            <a:avLst/>
          </a:prstGeom>
          <a:ln w="25400">
            <a:solidFill>
              <a:srgbClr val="8B5CF6">
                <a:alpha val="70000"/>
              </a:srgb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8662519" y="3670356"/>
            <a:ext cx="368601" cy="340247"/>
          </a:xfrm>
          <a:prstGeom prst="line">
            <a:avLst/>
          </a:prstGeom>
          <a:ln w="12700">
            <a:solidFill>
              <a:srgbClr val="2D3A5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192578" y="3300415"/>
            <a:ext cx="222883" cy="668649"/>
          </a:xfrm>
          <a:prstGeom prst="line">
            <a:avLst/>
          </a:prstGeom>
          <a:ln w="12700">
            <a:solidFill>
              <a:srgbClr val="2D3A5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8510895" y="2713780"/>
            <a:ext cx="31769" cy="698919"/>
          </a:xfrm>
          <a:prstGeom prst="line">
            <a:avLst/>
          </a:prstGeom>
          <a:ln w="25400">
            <a:solidFill>
              <a:srgbClr val="8B5CF6">
                <a:alpha val="70000"/>
              </a:srgb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689728" y="3217719"/>
            <a:ext cx="634223" cy="285401"/>
          </a:xfrm>
          <a:prstGeom prst="line">
            <a:avLst/>
          </a:prstGeom>
          <a:ln w="12700">
            <a:solidFill>
              <a:srgbClr val="2D3A5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634537" y="2641178"/>
            <a:ext cx="698885" cy="432643"/>
          </a:xfrm>
          <a:prstGeom prst="line">
            <a:avLst/>
          </a:prstGeom>
          <a:ln w="12700">
            <a:solidFill>
              <a:srgbClr val="2D3A5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591858" y="2874132"/>
            <a:ext cx="293003" cy="195335"/>
          </a:xfrm>
          <a:prstGeom prst="line">
            <a:avLst/>
          </a:prstGeom>
          <a:ln w="25400">
            <a:solidFill>
              <a:srgbClr val="8B5CF6">
                <a:alpha val="70000"/>
              </a:srgb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9281160" y="1828800"/>
            <a:ext cx="457200" cy="457200"/>
          </a:xfrm>
          <a:prstGeom prst="ellipse">
            <a:avLst/>
          </a:prstGeom>
          <a:noFill/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351751" y="1899391"/>
            <a:ext cx="316016" cy="316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277856" y="2414015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69296" y="3374136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29216" y="3922776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997696" y="3968496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403336" y="3419856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357616" y="2414015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317736" y="3008376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6376" y="2642616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4160520" y="3063240"/>
            <a:ext cx="3429000" cy="0"/>
          </a:xfrm>
          <a:prstGeom prst="line">
            <a:avLst/>
          </a:prstGeom>
          <a:ln w="50800">
            <a:solidFill>
              <a:srgbClr val="A0A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Isosceles Triangle 56"/>
          <p:cNvSpPr/>
          <p:nvPr/>
        </p:nvSpPr>
        <p:spPr>
          <a:xfrm rot="5400000">
            <a:off x="7543800" y="2898648"/>
            <a:ext cx="292608" cy="329184"/>
          </a:xfrm>
          <a:prstGeom prst="triangle">
            <a:avLst/>
          </a:prstGeom>
          <a:solidFill>
            <a:srgbClr val="A0A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19" y="4526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 spc="100">
                <a:solidFill>
                  <a:srgbClr val="26DDF9"/>
                </a:solidFill>
                <a:latin typeface="Calibri"/>
              </a:rPr>
              <a:t>TOPOLOGY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19" y="4937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Discover structure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0960" y="4526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 spc="100">
                <a:solidFill>
                  <a:srgbClr val="8B5CF6"/>
                </a:solidFill>
                <a:latin typeface="Calibri"/>
              </a:rPr>
              <a:t>DIRECTIONAL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3760" y="4937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Model perturbation flow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971446" y="5532120"/>
            <a:ext cx="102413" cy="102412"/>
          </a:xfrm>
          <a:prstGeom prst="line">
            <a:avLst/>
          </a:prstGeom>
          <a:ln w="444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073859" y="5415076"/>
            <a:ext cx="175565" cy="219456"/>
          </a:xfrm>
          <a:prstGeom prst="line">
            <a:avLst/>
          </a:prstGeom>
          <a:ln w="444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74319" y="57607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Perturbation validation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19" y="6053328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A0AFC8"/>
                </a:solidFill>
                <a:latin typeface="Calibri"/>
              </a:rPr>
              <a:t>Held-out perturbations match predictions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962802" y="5532120"/>
            <a:ext cx="102413" cy="102412"/>
          </a:xfrm>
          <a:prstGeom prst="line">
            <a:avLst/>
          </a:prstGeom>
          <a:ln w="444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065215" y="5415076"/>
            <a:ext cx="175565" cy="219456"/>
          </a:xfrm>
          <a:prstGeom prst="line">
            <a:avLst/>
          </a:prstGeom>
          <a:ln w="444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265676" y="57607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Pathway recovery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37076" y="6053328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A0AFC8"/>
                </a:solidFill>
                <a:latin typeface="Calibri"/>
              </a:rPr>
              <a:t>Recovers known biological pathways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926726" y="5532120"/>
            <a:ext cx="102413" cy="102412"/>
          </a:xfrm>
          <a:prstGeom prst="line">
            <a:avLst/>
          </a:prstGeom>
          <a:ln w="444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029139" y="5415076"/>
            <a:ext cx="175565" cy="219456"/>
          </a:xfrm>
          <a:prstGeom prst="line">
            <a:avLst/>
          </a:prstGeom>
          <a:ln w="444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229600" y="57607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Cross-state consistency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01000" y="6053328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A0AFC8"/>
                </a:solidFill>
                <a:latin typeface="Calibri"/>
              </a:rPr>
              <a:t>Stable across cell states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Multimodal Encoder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>
                <a:solidFill>
                  <a:srgbClr val="A0AFC8"/>
                </a:solidFill>
                <a:latin typeface="Calibri"/>
              </a:rPr>
              <a:t>Unifying multi-omics biology into actionable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451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26DDF9"/>
                </a:solidFill>
                <a:latin typeface="Calibri"/>
              </a:rPr>
              <a:t>RNA</a:t>
            </a:r>
          </a:p>
        </p:txBody>
      </p:sp>
      <p:sp>
        <p:nvSpPr>
          <p:cNvPr id="5" name="Oval 4"/>
          <p:cNvSpPr/>
          <p:nvPr/>
        </p:nvSpPr>
        <p:spPr>
          <a:xfrm>
            <a:off x="1673352" y="2267712"/>
            <a:ext cx="310896" cy="310896"/>
          </a:xfrm>
          <a:prstGeom prst="ellipse">
            <a:avLst/>
          </a:prstGeom>
          <a:solidFill>
            <a:srgbClr val="26D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187451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26DDF9"/>
                </a:solidFill>
                <a:latin typeface="Calibri"/>
              </a:rPr>
              <a:t>ATAC</a:t>
            </a:r>
          </a:p>
        </p:txBody>
      </p:sp>
      <p:sp>
        <p:nvSpPr>
          <p:cNvPr id="7" name="Oval 6"/>
          <p:cNvSpPr/>
          <p:nvPr/>
        </p:nvSpPr>
        <p:spPr>
          <a:xfrm>
            <a:off x="3867912" y="2267712"/>
            <a:ext cx="310896" cy="310896"/>
          </a:xfrm>
          <a:prstGeom prst="ellipse">
            <a:avLst/>
          </a:prstGeom>
          <a:solidFill>
            <a:srgbClr val="26D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2876" y="187451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26DDF9"/>
                </a:solidFill>
                <a:latin typeface="Calibri"/>
              </a:rPr>
              <a:t>Protein</a:t>
            </a:r>
          </a:p>
        </p:txBody>
      </p:sp>
      <p:sp>
        <p:nvSpPr>
          <p:cNvPr id="9" name="Oval 8"/>
          <p:cNvSpPr/>
          <p:nvPr/>
        </p:nvSpPr>
        <p:spPr>
          <a:xfrm>
            <a:off x="5939028" y="2267712"/>
            <a:ext cx="310896" cy="310896"/>
          </a:xfrm>
          <a:prstGeom prst="ellipse">
            <a:avLst/>
          </a:prstGeom>
          <a:solidFill>
            <a:srgbClr val="26D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87451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8B5CF6"/>
                </a:solidFill>
                <a:latin typeface="Calibri"/>
              </a:rPr>
              <a:t>Phospho</a:t>
            </a:r>
          </a:p>
        </p:txBody>
      </p:sp>
      <p:sp>
        <p:nvSpPr>
          <p:cNvPr id="11" name="Diamond 10"/>
          <p:cNvSpPr/>
          <p:nvPr/>
        </p:nvSpPr>
        <p:spPr>
          <a:xfrm>
            <a:off x="8074152" y="2267712"/>
            <a:ext cx="310896" cy="310896"/>
          </a:xfrm>
          <a:prstGeom prst="diamond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87451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F59E0B"/>
                </a:solidFill>
                <a:latin typeface="Calibri"/>
              </a:rPr>
              <a:t>VDJ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10177272" y="2267712"/>
            <a:ext cx="310896" cy="310896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828800" y="2624328"/>
            <a:ext cx="0" cy="758952"/>
          </a:xfrm>
          <a:prstGeom prst="line">
            <a:avLst/>
          </a:prstGeom>
          <a:ln w="12700">
            <a:solidFill>
              <a:srgbClr val="A0AF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023360" y="2624328"/>
            <a:ext cx="0" cy="758952"/>
          </a:xfrm>
          <a:prstGeom prst="line">
            <a:avLst/>
          </a:prstGeom>
          <a:ln w="12700">
            <a:solidFill>
              <a:srgbClr val="A0AF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94476" y="2624328"/>
            <a:ext cx="0" cy="758952"/>
          </a:xfrm>
          <a:prstGeom prst="line">
            <a:avLst/>
          </a:prstGeom>
          <a:ln w="12700">
            <a:solidFill>
              <a:srgbClr val="A0AF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2624328"/>
            <a:ext cx="0" cy="758952"/>
          </a:xfrm>
          <a:prstGeom prst="line">
            <a:avLst/>
          </a:prstGeom>
          <a:ln w="12700">
            <a:solidFill>
              <a:srgbClr val="A0AF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332720" y="2624328"/>
            <a:ext cx="0" cy="758952"/>
          </a:xfrm>
          <a:prstGeom prst="line">
            <a:avLst/>
          </a:prstGeom>
          <a:ln w="12700">
            <a:solidFill>
              <a:srgbClr val="A0AFC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371600" y="3429000"/>
            <a:ext cx="9448495" cy="868680"/>
          </a:xfrm>
          <a:prstGeom prst="roundRect">
            <a:avLst>
              <a:gd name="adj" fmla="val 6000"/>
            </a:avLst>
          </a:prstGeom>
          <a:solidFill>
            <a:srgbClr val="8B5CF6">
              <a:alpha val="15000"/>
            </a:srgbClr>
          </a:solidFill>
          <a:ln w="222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538728"/>
            <a:ext cx="9448495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 spc="100">
                <a:solidFill>
                  <a:srgbClr val="FFFFFF"/>
                </a:solidFill>
                <a:latin typeface="Calibri"/>
              </a:rPr>
              <a:t>UNIFIED ENCODER</a:t>
            </a:r>
          </a:p>
          <a:p>
            <a:pPr algn="ctr">
              <a:lnSpc>
                <a:spcPct val="120000"/>
              </a:lnSpc>
            </a:pPr>
            <a:r>
              <a:rPr sz="1400" b="0" i="1">
                <a:solidFill>
                  <a:srgbClr val="A0AFC8"/>
                </a:solidFill>
                <a:latin typeface="Calibri"/>
              </a:rPr>
              <a:t>256-D latent representation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4476" y="4343400"/>
            <a:ext cx="0" cy="457200"/>
          </a:xfrm>
          <a:prstGeom prst="line">
            <a:avLst/>
          </a:prstGeom>
          <a:ln w="50800">
            <a:solidFill>
              <a:srgbClr val="8B5CF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79" y="493776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Drug response</a:t>
            </a:r>
          </a:p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39" y="5532120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1">
                <a:solidFill>
                  <a:srgbClr val="A0AFC8"/>
                </a:solidFill>
                <a:latin typeface="Calibri"/>
              </a:rPr>
              <a:t>Predict combinations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93776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Biomarker</a:t>
            </a:r>
          </a:p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discovery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79" y="5532120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1">
                <a:solidFill>
                  <a:srgbClr val="A0AFC8"/>
                </a:solidFill>
                <a:latin typeface="Calibri"/>
              </a:rPr>
              <a:t>Stratify patients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93776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Target</a:t>
            </a:r>
          </a:p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prioritization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532120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1">
                <a:solidFill>
                  <a:srgbClr val="A0AFC8"/>
                </a:solidFill>
                <a:latin typeface="Calibri"/>
              </a:rPr>
              <a:t>Rank by causal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93776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Patient</a:t>
            </a:r>
          </a:p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stratification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5532120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1">
                <a:solidFill>
                  <a:srgbClr val="A0AFC8"/>
                </a:solidFill>
                <a:latin typeface="Calibri"/>
              </a:rPr>
              <a:t>Match to interventions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263640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26DDF9"/>
                </a:solidFill>
                <a:latin typeface="Calibri"/>
              </a:rPr>
              <a:t>●</a:t>
            </a:r>
            <a:r>
              <a:rPr sz="1100" b="0" i="0">
                <a:solidFill>
                  <a:srgbClr val="A0AFC8"/>
                </a:solidFill>
                <a:latin typeface="Calibri"/>
              </a:rPr>
              <a:t>  Today      </a:t>
            </a:r>
            <a:r>
              <a:rPr sz="1400" b="1" i="0">
                <a:solidFill>
                  <a:srgbClr val="8B5CF6"/>
                </a:solidFill>
                <a:latin typeface="Calibri"/>
              </a:rPr>
              <a:t>◆</a:t>
            </a:r>
            <a:r>
              <a:rPr sz="1100" b="0" i="0">
                <a:solidFill>
                  <a:srgbClr val="A0AFC8"/>
                </a:solidFill>
                <a:latin typeface="Calibri"/>
              </a:rPr>
              <a:t>  Phase 1      </a:t>
            </a:r>
            <a:r>
              <a:rPr sz="1400" b="1" i="0">
                <a:solidFill>
                  <a:srgbClr val="F59E0B"/>
                </a:solidFill>
                <a:latin typeface="Calibri"/>
              </a:rPr>
              <a:t>▲</a:t>
            </a:r>
            <a:r>
              <a:rPr sz="1100" b="0" i="0">
                <a:solidFill>
                  <a:srgbClr val="A0AFC8"/>
                </a:solidFill>
                <a:latin typeface="Calibri"/>
              </a:rPr>
              <a:t>  Phase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>
                <a:solidFill>
                  <a:srgbClr val="A0AFC8"/>
                </a:solidFill>
                <a:latin typeface="Calibri"/>
              </a:rPr>
              <a:t>Execution plan and value compounding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2331720"/>
            <a:ext cx="9418320" cy="0"/>
          </a:xfrm>
          <a:prstGeom prst="line">
            <a:avLst/>
          </a:prstGeom>
          <a:ln w="31750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271016" y="2231136"/>
            <a:ext cx="201168" cy="201168"/>
          </a:xfrm>
          <a:prstGeom prst="ellipse">
            <a:avLst/>
          </a:prstGeom>
          <a:solidFill>
            <a:srgbClr val="26D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51460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spc="50">
                <a:solidFill>
                  <a:srgbClr val="26DDF9"/>
                </a:solidFill>
                <a:latin typeface="Calibri"/>
              </a:rPr>
              <a:t>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" y="2926079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Public benchmark</a:t>
            </a:r>
          </a:p>
        </p:txBody>
      </p:sp>
      <p:sp>
        <p:nvSpPr>
          <p:cNvPr id="8" name="Oval 7"/>
          <p:cNvSpPr/>
          <p:nvPr/>
        </p:nvSpPr>
        <p:spPr>
          <a:xfrm>
            <a:off x="3557016" y="2231136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51460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spc="50">
                <a:solidFill>
                  <a:srgbClr val="8B5CF6"/>
                </a:solidFill>
                <a:latin typeface="Calibri"/>
              </a:rPr>
              <a:t>Q3'26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926079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Phase 1 data</a:t>
            </a:r>
          </a:p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lands</a:t>
            </a:r>
          </a:p>
        </p:txBody>
      </p:sp>
      <p:sp>
        <p:nvSpPr>
          <p:cNvPr id="11" name="Oval 10"/>
          <p:cNvSpPr/>
          <p:nvPr/>
        </p:nvSpPr>
        <p:spPr>
          <a:xfrm>
            <a:off x="5993892" y="2231136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97196" y="251460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spc="50">
                <a:solidFill>
                  <a:srgbClr val="F59E0B"/>
                </a:solidFill>
                <a:latin typeface="Calibri"/>
              </a:rPr>
              <a:t>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4316" y="2926079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Phase 2 CRISPR</a:t>
            </a:r>
          </a:p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+ VDJ</a:t>
            </a:r>
          </a:p>
        </p:txBody>
      </p:sp>
      <p:sp>
        <p:nvSpPr>
          <p:cNvPr id="14" name="Oval 13"/>
          <p:cNvSpPr/>
          <p:nvPr/>
        </p:nvSpPr>
        <p:spPr>
          <a:xfrm>
            <a:off x="8311896" y="2231136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9" y="251460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spc="50">
                <a:solidFill>
                  <a:srgbClr val="F59E0B"/>
                </a:solidFill>
                <a:latin typeface="Calibri"/>
              </a:rPr>
              <a:t>2027-28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19" y="2926079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Scaled data</a:t>
            </a:r>
          </a:p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generation</a:t>
            </a:r>
          </a:p>
        </p:txBody>
      </p:sp>
      <p:sp>
        <p:nvSpPr>
          <p:cNvPr id="17" name="Oval 16"/>
          <p:cNvSpPr/>
          <p:nvPr/>
        </p:nvSpPr>
        <p:spPr>
          <a:xfrm>
            <a:off x="10689336" y="2231136"/>
            <a:ext cx="201168" cy="20116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51460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spc="50">
                <a:solidFill>
                  <a:srgbClr val="4ADE80"/>
                </a:solidFill>
                <a:latin typeface="Calibri"/>
              </a:rPr>
              <a:t>2028+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926079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Therapeutic</a:t>
            </a:r>
          </a:p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spc="50">
                <a:solidFill>
                  <a:srgbClr val="4ADE80"/>
                </a:solidFill>
                <a:latin typeface="Calibri"/>
              </a:rPr>
              <a:t>Inflection points</a:t>
            </a:r>
          </a:p>
        </p:txBody>
      </p:sp>
      <p:sp>
        <p:nvSpPr>
          <p:cNvPr id="21" name="Oval 20"/>
          <p:cNvSpPr/>
          <p:nvPr/>
        </p:nvSpPr>
        <p:spPr>
          <a:xfrm>
            <a:off x="1682496" y="5202936"/>
            <a:ext cx="292608" cy="292608"/>
          </a:xfrm>
          <a:prstGeom prst="ellipse">
            <a:avLst/>
          </a:prstGeom>
          <a:solidFill>
            <a:srgbClr val="26D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566928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Proprietary</a:t>
            </a:r>
          </a:p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multimodal data</a:t>
            </a:r>
          </a:p>
        </p:txBody>
      </p:sp>
      <p:sp>
        <p:nvSpPr>
          <p:cNvPr id="23" name="Diamond 22"/>
          <p:cNvSpPr/>
          <p:nvPr/>
        </p:nvSpPr>
        <p:spPr>
          <a:xfrm>
            <a:off x="4425696" y="5202936"/>
            <a:ext cx="292608" cy="292608"/>
          </a:xfrm>
          <a:prstGeom prst="diamond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566928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Perturbation</a:t>
            </a:r>
          </a:p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scale expansion</a:t>
            </a:r>
          </a:p>
        </p:txBody>
      </p:sp>
      <p:sp>
        <p:nvSpPr>
          <p:cNvPr id="25" name="Diamond 24"/>
          <p:cNvSpPr/>
          <p:nvPr/>
        </p:nvSpPr>
        <p:spPr>
          <a:xfrm>
            <a:off x="7168896" y="5202936"/>
            <a:ext cx="292608" cy="292608"/>
          </a:xfrm>
          <a:prstGeom prst="diamond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566928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Causal</a:t>
            </a:r>
          </a:p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27" name="Isosceles Triangle 26"/>
          <p:cNvSpPr/>
          <p:nvPr/>
        </p:nvSpPr>
        <p:spPr>
          <a:xfrm>
            <a:off x="9912096" y="5202936"/>
            <a:ext cx="292608" cy="292608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566928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Therapeutic discovery</a:t>
            </a:r>
          </a:p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enablement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