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 Round Plan — Wet + Dry Lab Expansion (90-120s walk-through)</a:t>
            </a:r>
          </a:p>
          <a:p/>
          <a:p>
            <a:r>
              <a:t>OPENING (10s):</a:t>
            </a:r>
          </a:p>
          <a:p>
            <a:r>
              <a:t>"This slide shows what the seed round funds: an integrated platform spanning</a:t>
            </a:r>
          </a:p>
          <a:p>
            <a:r>
              <a:t>three biological scales, supported by a proprietary data moat and our own</a:t>
            </a:r>
          </a:p>
          <a:p>
            <a:r>
              <a:t>wet lab. Every module is a distinct deliverable; together they compose into</a:t>
            </a:r>
          </a:p>
          <a:p>
            <a:r>
              <a:t>the AIVC virtual cell model."</a:t>
            </a:r>
          </a:p>
          <a:p/>
          <a:p>
            <a:r>
              <a:t>SUBMOLECULAR SCALE (15s):</a:t>
            </a:r>
          </a:p>
          <a:p>
            <a:r>
              <a:t>"At the submolecular scale: Qurie-Kinetica — the mechanistic intelligence</a:t>
            </a:r>
          </a:p>
          <a:p>
            <a:r>
              <a:t>layer. Models signaling dynamics, reaction kinetics, and cell dynamics</a:t>
            </a:r>
          </a:p>
          <a:p>
            <a:r>
              <a:t>under physics-informed priors. This is where we extrapolate beyond observed</a:t>
            </a:r>
          </a:p>
          <a:p>
            <a:r>
              <a:t>perturbations into resistance evolution and combination effects."</a:t>
            </a:r>
          </a:p>
          <a:p/>
          <a:p>
            <a:r>
              <a:t>MOLECULAR SCALE (30s):</a:t>
            </a:r>
          </a:p>
          <a:p>
            <a:r>
              <a:t>"At the molecular scale: three complementary modules.</a:t>
            </a:r>
          </a:p>
          <a:p/>
          <a:p>
            <a:r>
              <a:t>Qurie-PhysioMap — Physical Cell Intelligence. Imaging-derived morphology,</a:t>
            </a:r>
          </a:p>
          <a:p>
            <a:r>
              <a:t>protein localization, and mechanics readouts.</a:t>
            </a:r>
          </a:p>
          <a:p/>
          <a:p>
            <a:r>
              <a:t>QuRIE-seq — Cell State Intelligence. Our proprietary multimodal single-cell</a:t>
            </a:r>
          </a:p>
          <a:p>
            <a:r>
              <a:t>assay measuring RNA, proteins, and phosphoproteins from the same cell.</a:t>
            </a:r>
          </a:p>
          <a:p/>
          <a:p>
            <a:r>
              <a:t>QuRIE-PerturbSeq — Causal Cell Intelligence. CRISPR perturbation linked</a:t>
            </a:r>
          </a:p>
          <a:p>
            <a:r>
              <a:t>to RNA, proteins, phosphoproteins, and VDJ — the causal layer in molecular</a:t>
            </a:r>
          </a:p>
          <a:p>
            <a:r>
              <a:t>intelligence."</a:t>
            </a:r>
          </a:p>
          <a:p/>
          <a:p>
            <a:r>
              <a:t>TISSUE SCALE (20s):</a:t>
            </a:r>
          </a:p>
          <a:p>
            <a:r>
              <a:t>"At the tissue scale: two modules.</a:t>
            </a:r>
          </a:p>
          <a:p/>
          <a:p>
            <a:r>
              <a:t>QuRIE-Recon — tissue reconstruction and tumor–immune interaction modeling.</a:t>
            </a:r>
          </a:p>
          <a:p>
            <a:r>
              <a:t>Drives therapy prediction and tissue-aware biomarker discovery.</a:t>
            </a:r>
          </a:p>
          <a:p/>
          <a:p>
            <a:r>
              <a:t>QuRIE-Flow / QuRIE-Perturb — the AI software stack for 2D/3D tissue</a:t>
            </a:r>
          </a:p>
          <a:p>
            <a:r>
              <a:t>reconstruction from dissociated single cells. This is how we get from</a:t>
            </a:r>
          </a:p>
          <a:p>
            <a:r>
              <a:t>single-cell measurements back to tissue context."</a:t>
            </a:r>
          </a:p>
          <a:p/>
          <a:p>
            <a:r>
              <a:t>ENABLING PILLARS (20s):</a:t>
            </a:r>
          </a:p>
          <a:p>
            <a:r>
              <a:t>"Two infrastructure pillars support all six modules.</a:t>
            </a:r>
          </a:p>
          <a:p/>
          <a:p>
            <a:r>
              <a:t>Qurie-PBMC Atlas — our data moat. Largest deeply profiled immune atlas.</a:t>
            </a:r>
          </a:p>
          <a:p>
            <a:r>
              <a:t>Enables the first dynamic immune clock and benchmarks immune responses</a:t>
            </a:r>
          </a:p>
          <a:p>
            <a:r>
              <a:t>across perturbation, aging, and disease.</a:t>
            </a:r>
          </a:p>
          <a:p/>
          <a:p>
            <a:r>
              <a:t>Qurie-Lab — our wet lab. Lab-in-the-loop capabilities for data generation,</a:t>
            </a:r>
          </a:p>
          <a:p>
            <a:r>
              <a:t>perturbation biology, and model validation. The proprietary input layer</a:t>
            </a:r>
          </a:p>
          <a:p>
            <a:r>
              <a:t>that makes the rest of the platform defensible."</a:t>
            </a:r>
          </a:p>
          <a:p/>
          <a:p>
            <a:r>
              <a:t>CLOSE (10s):</a:t>
            </a:r>
          </a:p>
          <a:p>
            <a:r>
              <a:t>"Seven products plus two pillars — but one platform. Every module operates</a:t>
            </a:r>
          </a:p>
          <a:p>
            <a:r>
              <a:t>on the same shared biological state, generated by Qurie-Lab and</a:t>
            </a:r>
          </a:p>
          <a:p>
            <a:r>
              <a:t>benchmarked against Qurie-PBMC Atlas. That's how this seed round</a:t>
            </a:r>
          </a:p>
          <a:p>
            <a:r>
              <a:t>compounds: each capability strengthens every other."</a:t>
            </a:r>
          </a:p>
          <a:p/>
          <a:p>
            <a:r>
              <a:t>EXPECTED DILIGENCE QUESTIONS:</a:t>
            </a:r>
          </a:p>
          <a:p/>
          <a:p>
            <a:r>
              <a:t>Q: "Why three biological scales — isn't this scope creep?"</a:t>
            </a:r>
          </a:p>
          <a:p>
            <a:r>
              <a:t>A: Scale is where biological context lives. Submolecular for mechanism,</a:t>
            </a:r>
          </a:p>
          <a:p>
            <a:r>
              <a:t>molecular for measurement, tissue for clinical relevance. Skipping any</a:t>
            </a:r>
          </a:p>
          <a:p>
            <a:r>
              <a:t>scale breaks the chain from data to therapy.</a:t>
            </a:r>
          </a:p>
          <a:p/>
          <a:p>
            <a:r>
              <a:t>Q: "Does the seed fund all seven modules in parallel?"</a:t>
            </a:r>
          </a:p>
          <a:p>
            <a:r>
              <a:t>A: No. Seed funds Qurie-Lab + Qurie-PBMC Atlas (infrastructure pillars)</a:t>
            </a:r>
          </a:p>
          <a:p>
            <a:r>
              <a:t>plus Qurie-Kinetica + QuRIE-seq + QuRIE-PerturbSeq (the core triad).</a:t>
            </a:r>
          </a:p>
          <a:p>
            <a:r>
              <a:t>PhysioMap + Recon + Flow/Perturb are Series A roadmap with seed-stage</a:t>
            </a:r>
          </a:p>
          <a:p>
            <a:r>
              <a:t>proof-of-concept work.</a:t>
            </a:r>
          </a:p>
          <a:p/>
          <a:p>
            <a:r>
              <a:t>Q: "How is this different from Insilico / Recursion / CytoReason?"</a:t>
            </a:r>
          </a:p>
          <a:p>
            <a:r>
              <a:t>A: Three things they don't have together: proprietary multimodal single-cell</a:t>
            </a:r>
          </a:p>
          <a:p>
            <a:r>
              <a:t>perturbation data (QuRIE-seq), mechanistic priors as differentiable</a:t>
            </a:r>
          </a:p>
          <a:p>
            <a:r>
              <a:t>constraints (Qurie-Kinetica), and tissue-scale reconstruction from</a:t>
            </a:r>
          </a:p>
          <a:p>
            <a:r>
              <a:t>dissociated cells. The integration is the moat, not any single module.</a:t>
            </a:r>
          </a:p>
          <a:p/>
          <a:p>
            <a:r>
              <a:t>Q: "Naming — why the QuRIE / Qurie inconsistency?"</a:t>
            </a:r>
          </a:p>
          <a:p>
            <a:r>
              <a:t>A: Brand convention in flight. Models = 'Qurie-X' (Qurie-Kinetica,</a:t>
            </a:r>
          </a:p>
          <a:p>
            <a:r>
              <a:t>Qurie-PhysioMap, Qurie-Lab). Assays = 'QuRIE-X' (QuRIE-seq,</a:t>
            </a:r>
          </a:p>
          <a:p>
            <a:r>
              <a:t>QuRIE-PerturbSeq). Will normalize before Series A pitch.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26DDF9"/>
                </a:solidFill>
                <a:latin typeface="Calibri"/>
              </a:rPr>
              <a:t>SOLUTION  ·  AI VIRTUAL CELL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Seed Round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A0AFC8"/>
                </a:solidFill>
                <a:latin typeface="Calibri"/>
              </a:rPr>
              <a:t>Expanding wet and dry lab capabilities across biological scales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19072"/>
            <a:ext cx="11094415" cy="0"/>
          </a:xfrm>
          <a:prstGeom prst="line">
            <a:avLst/>
          </a:prstGeom>
          <a:ln w="952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84708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200">
                <a:solidFill>
                  <a:srgbClr val="26DDF9"/>
                </a:solidFill>
                <a:latin typeface="Calibri"/>
              </a:rPr>
              <a:t>SUBMOLECULAR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39696"/>
            <a:ext cx="1371600" cy="45720"/>
          </a:xfrm>
          <a:prstGeom prst="rect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Mechanistic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3288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6DDF9"/>
                </a:solidFill>
                <a:latin typeface="Calibri"/>
              </a:rPr>
              <a:t>Qurie-Kinetica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39"/>
            <a:ext cx="3337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Mechanistic modeling of signaling, reaction kinetics, and cell dynamics.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4708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200">
                <a:solidFill>
                  <a:srgbClr val="8B5CF6"/>
                </a:solidFill>
                <a:latin typeface="Calibri"/>
              </a:rPr>
              <a:t>MOLECULAR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139696"/>
            <a:ext cx="13716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331720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Physical Cell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3288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B5CF6"/>
                </a:solidFill>
                <a:latin typeface="Calibri"/>
              </a:rPr>
              <a:t>Qurie-PhysioMap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834639"/>
            <a:ext cx="3337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Imaging, morphology (size, shape), protein-localization, and mechanics readouts.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337560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Cell State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53872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B5CF6"/>
                </a:solidFill>
                <a:latin typeface="Calibri"/>
              </a:rPr>
              <a:t>QuRIE-seq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840480"/>
            <a:ext cx="3337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Multimodal single-cell profiling of RNA, proteins, and phosphoproteins.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343400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Causal Cell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54456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B5CF6"/>
                </a:solidFill>
                <a:latin typeface="Calibri"/>
              </a:rPr>
              <a:t>QuRIE-PerturbSeq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846320"/>
            <a:ext cx="3337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CRISPR perturbation linked to RNA, proteins, phosphoproteins, and VDJ.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84708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200">
                <a:solidFill>
                  <a:srgbClr val="F59E0B"/>
                </a:solidFill>
                <a:latin typeface="Calibri"/>
              </a:rPr>
              <a:t>TISSUE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139696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331720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Tissue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53288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59E0B"/>
                </a:solidFill>
                <a:latin typeface="Calibri"/>
              </a:rPr>
              <a:t>QuRIE-Recon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834639"/>
            <a:ext cx="3337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Tumor–immune tissue reconstruction. Therapy + tissue-aware biomarker prediction.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337560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Tissue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53872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59E0B"/>
                </a:solidFill>
                <a:latin typeface="Calibri"/>
              </a:rPr>
              <a:t>QuRIE-Flow / QuRIE-Perturb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840480"/>
            <a:ext cx="3337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AI software for 2D/3D tissue reconstruction from dissociated single cells.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5532120"/>
            <a:ext cx="5285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 spc="100">
                <a:solidFill>
                  <a:srgbClr val="A0AFC8"/>
                </a:solidFill>
                <a:latin typeface="Calibri"/>
              </a:rPr>
              <a:t>DATA MOAT  ·  Bioinformatic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60720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4ADE80"/>
                </a:solidFill>
                <a:latin typeface="Calibri"/>
              </a:rPr>
              <a:t>Qurie-PBMC Atlas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72200"/>
            <a:ext cx="52852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Largest deeply profiled immune atlas — enables the first dynamic immune clock and benchmarks immune responses across perturbation, aging, and disease.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532120"/>
            <a:ext cx="5285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 spc="100">
                <a:solidFill>
                  <a:srgbClr val="A0AFC8"/>
                </a:solidFill>
                <a:latin typeface="Calibri"/>
              </a:rPr>
              <a:t>WET LAB  ·  Lab-in-the-loop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760720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4ADE80"/>
                </a:solidFill>
                <a:latin typeface="Calibri"/>
              </a:rPr>
              <a:t>Qurie-Lab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6172200"/>
            <a:ext cx="52852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Laboratory capabilities for data generation, perturbation biology, and model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