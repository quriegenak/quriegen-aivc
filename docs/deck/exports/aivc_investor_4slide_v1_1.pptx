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AIVC Platform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A0AFC8"/>
                </a:solidFill>
                <a:latin typeface="Calibri"/>
              </a:rPr>
              <a:t>From public benchmarking to scalable causal biological intelligence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03707" y="1600200"/>
            <a:ext cx="3703320" cy="4572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307" y="176479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6DDF9"/>
                </a:solidFill>
                <a:latin typeface="Calibri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307" y="20574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Foundation &amp; Benchmarking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" y="246888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Public multimodal datasets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3 reference papers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DOGMA-seq · Calderon · Mimitou CRISPR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Multi-omics encoder pretraining</a:t>
            </a:r>
          </a:p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26DDF9"/>
                </a:solidFill>
                <a:latin typeface="Calibri"/>
              </a:rPr>
              <a:t>73% cross-corpus accuracy</a:t>
            </a:r>
          </a:p>
        </p:txBody>
      </p:sp>
      <p:sp>
        <p:nvSpPr>
          <p:cNvPr id="9" name="Oval 8"/>
          <p:cNvSpPr/>
          <p:nvPr/>
        </p:nvSpPr>
        <p:spPr>
          <a:xfrm>
            <a:off x="998067" y="4983480"/>
            <a:ext cx="292608" cy="292608"/>
          </a:xfrm>
          <a:prstGeom prst="ellipse">
            <a:avLst/>
          </a:prstGeom>
          <a:solidFill>
            <a:srgbClr val="26DDF9"/>
          </a:solidFill>
          <a:ln w="6350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07" y="5303520"/>
            <a:ext cx="1024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A0AFC8"/>
                </a:solidFill>
                <a:latin typeface="Calibri"/>
              </a:rPr>
              <a:t>RNA</a:t>
            </a:r>
          </a:p>
        </p:txBody>
      </p:sp>
      <p:sp>
        <p:nvSpPr>
          <p:cNvPr id="11" name="Oval 10"/>
          <p:cNvSpPr/>
          <p:nvPr/>
        </p:nvSpPr>
        <p:spPr>
          <a:xfrm>
            <a:off x="2095347" y="4983480"/>
            <a:ext cx="292608" cy="292608"/>
          </a:xfrm>
          <a:prstGeom prst="ellipse">
            <a:avLst/>
          </a:prstGeom>
          <a:solidFill>
            <a:srgbClr val="26DDF9"/>
          </a:solidFill>
          <a:ln w="6350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29587" y="5303520"/>
            <a:ext cx="1024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A0AFC8"/>
                </a:solidFill>
                <a:latin typeface="Calibri"/>
              </a:rPr>
              <a:t>ATAC</a:t>
            </a:r>
          </a:p>
        </p:txBody>
      </p:sp>
      <p:sp>
        <p:nvSpPr>
          <p:cNvPr id="13" name="Oval 12"/>
          <p:cNvSpPr/>
          <p:nvPr/>
        </p:nvSpPr>
        <p:spPr>
          <a:xfrm>
            <a:off x="3192627" y="4983480"/>
            <a:ext cx="292608" cy="292608"/>
          </a:xfrm>
          <a:prstGeom prst="ellipse">
            <a:avLst/>
          </a:prstGeom>
          <a:solidFill>
            <a:srgbClr val="26DDF9"/>
          </a:solidFill>
          <a:ln w="6350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26867" y="5303520"/>
            <a:ext cx="1024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A0AFC8"/>
                </a:solidFill>
                <a:latin typeface="Calibri"/>
              </a:rPr>
              <a:t>Protein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4187" y="1600200"/>
            <a:ext cx="3703320" cy="4572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2787" y="176479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B5CF6"/>
                </a:solidFill>
                <a:latin typeface="Calibri"/>
              </a:rPr>
              <a:t>PHASE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2787" y="20574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Controlled Perturbation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2787" y="24688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5CF6"/>
                </a:solidFill>
                <a:latin typeface="Calibri"/>
              </a:rPr>
              <a:t>Q3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2787" y="278892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QuRIE-seq · proprietary multi-omics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3 modalities directly measured:</a:t>
            </a:r>
          </a:p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8B5CF6"/>
                </a:solidFill>
                <a:latin typeface="Calibri"/>
              </a:rPr>
              <a:t>RNA · Proteins · Phosphoproteins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PBMCs · 5 donors · 5 timepoints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5 stimuli · 10 inhibitors</a:t>
            </a:r>
          </a:p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BTK + JAK combo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55667" y="4800600"/>
            <a:ext cx="777240" cy="36576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55667" y="483717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07227" y="4800600"/>
            <a:ext cx="777240" cy="36576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7227" y="483717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58787" y="4800600"/>
            <a:ext cx="777240" cy="36576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58787" y="483717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Phos</a:t>
            </a:r>
          </a:p>
        </p:txBody>
      </p:sp>
      <p:sp>
        <p:nvSpPr>
          <p:cNvPr id="26" name="Hexagon 25"/>
          <p:cNvSpPr/>
          <p:nvPr/>
        </p:nvSpPr>
        <p:spPr>
          <a:xfrm>
            <a:off x="5341467" y="5550408"/>
            <a:ext cx="1508760" cy="594360"/>
          </a:xfrm>
          <a:prstGeom prst="hexagon">
            <a:avLst/>
          </a:prstGeom>
          <a:solidFill>
            <a:srgbClr val="8B5CF6">
              <a:alpha val="22000"/>
            </a:srgbClr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1467" y="562356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Encoder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44287" y="5166360"/>
            <a:ext cx="0" cy="402336"/>
          </a:xfrm>
          <a:prstGeom prst="line">
            <a:avLst/>
          </a:prstGeom>
          <a:ln w="127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5847" y="5166360"/>
            <a:ext cx="0" cy="402336"/>
          </a:xfrm>
          <a:prstGeom prst="line">
            <a:avLst/>
          </a:prstGeom>
          <a:ln w="127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47407" y="5166360"/>
            <a:ext cx="0" cy="402336"/>
          </a:xfrm>
          <a:prstGeom prst="line">
            <a:avLst/>
          </a:prstGeom>
          <a:ln w="127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84667" y="1600200"/>
            <a:ext cx="3703320" cy="4572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3267" y="176479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PHASE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3267" y="20574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Scalable Causal Discovery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3267" y="24688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59E0B"/>
                </a:solidFill>
                <a:latin typeface="Calibri"/>
              </a:rPr>
              <a:t>2027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3267" y="278892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QuRIE-seq + CRISPR + VDJ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5 modalities:</a:t>
            </a:r>
          </a:p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RNA · Epi · Prot · Phospho · VDJ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20–25 donors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Soft perturbations: 30 stimuli + inhibitors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Hard perturbations: CRISPR library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49259" y="4800600"/>
            <a:ext cx="548640" cy="329184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9259" y="4823460"/>
            <a:ext cx="548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RNA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5633" y="4800600"/>
            <a:ext cx="548640" cy="329184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55633" y="4823460"/>
            <a:ext cx="548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Epi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62007" y="4800600"/>
            <a:ext cx="548640" cy="329184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62007" y="4823460"/>
            <a:ext cx="548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Prot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68381" y="4800600"/>
            <a:ext cx="548640" cy="329184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68381" y="4823460"/>
            <a:ext cx="548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Phos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074755" y="4800600"/>
            <a:ext cx="548640" cy="329184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74755" y="4823460"/>
            <a:ext cx="548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VDJ</a:t>
            </a:r>
          </a:p>
        </p:txBody>
      </p:sp>
      <p:sp>
        <p:nvSpPr>
          <p:cNvPr id="46" name="Hexagon 45"/>
          <p:cNvSpPr/>
          <p:nvPr/>
        </p:nvSpPr>
        <p:spPr>
          <a:xfrm>
            <a:off x="9090507" y="5513832"/>
            <a:ext cx="1691640" cy="640080"/>
          </a:xfrm>
          <a:prstGeom prst="hexagon">
            <a:avLst/>
          </a:prstGeom>
          <a:solidFill>
            <a:srgbClr val="F59E0B">
              <a:alpha val="22000"/>
            </a:srgbClr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90507" y="5586984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Encoder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523579" y="5129784"/>
            <a:ext cx="0" cy="402336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229953" y="5129784"/>
            <a:ext cx="0" cy="402336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936327" y="5129784"/>
            <a:ext cx="0" cy="402336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642701" y="5129784"/>
            <a:ext cx="0" cy="402336"/>
          </a:xfrm>
          <a:prstGeom prst="line">
            <a:avLst/>
          </a:prstGeom>
          <a:ln w="127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349075" y="5129784"/>
            <a:ext cx="0" cy="402336"/>
          </a:xfrm>
          <a:prstGeom prst="line">
            <a:avLst/>
          </a:prstGeom>
          <a:ln w="127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111599" y="3886200"/>
            <a:ext cx="128016" cy="0"/>
          </a:xfrm>
          <a:prstGeom prst="line">
            <a:avLst/>
          </a:prstGeom>
          <a:ln w="15875">
            <a:solidFill>
              <a:srgbClr val="A0AF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952079" y="3886200"/>
            <a:ext cx="128016" cy="0"/>
          </a:xfrm>
          <a:prstGeom prst="line">
            <a:avLst/>
          </a:prstGeom>
          <a:ln w="15875">
            <a:solidFill>
              <a:srgbClr val="A0AF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7200" y="6464808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A0AFC8"/>
                </a:solidFill>
                <a:latin typeface="Calibri"/>
              </a:rPr>
              <a:t>PHASE 3 — Continuation of data generation at scale + therapeutic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Causal Biological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A0AFC8"/>
                </a:solidFill>
                <a:latin typeface="Calibri"/>
              </a:rPr>
              <a:t>First learn structure. Then learn how signals flow.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6DDF9"/>
                </a:solidFill>
                <a:latin typeface="Calibri"/>
              </a:rPr>
              <a:t>TOPOLOGY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Discover biological structure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0615" y="2864927"/>
            <a:ext cx="83977" cy="300127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98392" y="2858756"/>
            <a:ext cx="354847" cy="850179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374812" y="3455075"/>
            <a:ext cx="172770" cy="420307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875988" y="3431875"/>
            <a:ext cx="632707" cy="773131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920464" y="3909872"/>
            <a:ext cx="850179" cy="354847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754017" y="3786292"/>
            <a:ext cx="420307" cy="172770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2653327" y="3875825"/>
            <a:ext cx="83977" cy="300127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364680" y="3331944"/>
            <a:ext cx="354847" cy="850179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670337" y="3165497"/>
            <a:ext cx="172770" cy="420307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453447" y="3064807"/>
            <a:ext cx="300127" cy="83977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2447593" y="3248582"/>
            <a:ext cx="1322733" cy="543715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034979" y="2793049"/>
            <a:ext cx="270774" cy="154305"/>
          </a:xfrm>
          <a:prstGeom prst="line">
            <a:avLst/>
          </a:prstGeom>
          <a:ln w="1587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292918" y="2570685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59682" y="3166687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66106" y="3704398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70104" y="3871162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32393" y="4177586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65629" y="3581584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59205" y="3043873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55207" y="2877109"/>
            <a:ext cx="292608" cy="29260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800600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Identify how biological components organize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Build the latent map of cell biology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1554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B5CF6"/>
                </a:solidFill>
                <a:latin typeface="Calibri"/>
              </a:rPr>
              <a:t>DIRECTIONAL CAUSAL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18470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Model perturbation flow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69935" y="2864927"/>
            <a:ext cx="83977" cy="300127"/>
          </a:xfrm>
          <a:prstGeom prst="line">
            <a:avLst/>
          </a:prstGeom>
          <a:ln w="3492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487712" y="2858756"/>
            <a:ext cx="354847" cy="850179"/>
          </a:xfrm>
          <a:prstGeom prst="line">
            <a:avLst/>
          </a:prstGeom>
          <a:ln w="3492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9364132" y="3455075"/>
            <a:ext cx="172770" cy="420307"/>
          </a:xfrm>
          <a:prstGeom prst="line">
            <a:avLst/>
          </a:prstGeom>
          <a:ln w="2222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865308" y="3431875"/>
            <a:ext cx="632707" cy="773131"/>
          </a:xfrm>
          <a:prstGeom prst="line">
            <a:avLst/>
          </a:prstGeom>
          <a:ln w="2222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909784" y="3909872"/>
            <a:ext cx="850179" cy="354847"/>
          </a:xfrm>
          <a:prstGeom prst="line">
            <a:avLst/>
          </a:prstGeom>
          <a:ln w="2222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8743337" y="3786292"/>
            <a:ext cx="420307" cy="172770"/>
          </a:xfrm>
          <a:prstGeom prst="line">
            <a:avLst/>
          </a:prstGeom>
          <a:ln w="317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8642647" y="3875825"/>
            <a:ext cx="83977" cy="300127"/>
          </a:xfrm>
          <a:prstGeom prst="line">
            <a:avLst/>
          </a:prstGeom>
          <a:ln w="2222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8354000" y="3331944"/>
            <a:ext cx="354847" cy="850179"/>
          </a:xfrm>
          <a:prstGeom prst="line">
            <a:avLst/>
          </a:prstGeom>
          <a:ln w="12700">
            <a:solidFill>
              <a:srgbClr val="2D3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659657" y="3165497"/>
            <a:ext cx="172770" cy="420307"/>
          </a:xfrm>
          <a:prstGeom prst="line">
            <a:avLst/>
          </a:prstGeom>
          <a:ln w="12700">
            <a:solidFill>
              <a:srgbClr val="2D3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442767" y="3064807"/>
            <a:ext cx="300127" cy="83977"/>
          </a:xfrm>
          <a:prstGeom prst="line">
            <a:avLst/>
          </a:prstGeom>
          <a:ln w="12700">
            <a:solidFill>
              <a:srgbClr val="2D3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8436913" y="3248582"/>
            <a:ext cx="1322733" cy="543715"/>
          </a:xfrm>
          <a:prstGeom prst="line">
            <a:avLst/>
          </a:prstGeom>
          <a:ln w="12700">
            <a:solidFill>
              <a:srgbClr val="2D3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9024299" y="2793049"/>
            <a:ext cx="270774" cy="154305"/>
          </a:xfrm>
          <a:prstGeom prst="line">
            <a:avLst/>
          </a:prstGeom>
          <a:ln w="12700">
            <a:solidFill>
              <a:srgbClr val="2D3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223716" y="2512164"/>
            <a:ext cx="409651" cy="409651"/>
          </a:xfrm>
          <a:prstGeom prst="ellipse">
            <a:avLst/>
          </a:prstGeom>
          <a:solidFill>
            <a:srgbClr val="F59E0B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449002" y="3166687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755426" y="3704398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59424" y="3871162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21713" y="4177586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54949" y="3581584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148525" y="3043873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744527" y="2877109"/>
            <a:ext cx="292608" cy="2926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48006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Infer directional signaling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Estimate influence strength (edge bandwidth)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Trace perturbation effects through network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760720"/>
            <a:ext cx="3520440" cy="77724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2648" y="5907024"/>
            <a:ext cx="201168" cy="201168"/>
          </a:xfrm>
          <a:prstGeom prst="ellipse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5879592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Perturbation Validation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615391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AFC8"/>
                </a:solidFill>
                <a:latin typeface="Calibri"/>
              </a:rPr>
              <a:t>Holds out perturbations, tests predictions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35627" y="5760720"/>
            <a:ext cx="3520440" cy="77724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91075" y="5907024"/>
            <a:ext cx="201168" cy="201168"/>
          </a:xfrm>
          <a:prstGeom prst="ellipse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38547" y="5879592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Pathway Recovery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38547" y="615391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AFC8"/>
                </a:solidFill>
                <a:latin typeface="Calibri"/>
              </a:rPr>
              <a:t>Recovers known biological pathways from data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14055" y="5760720"/>
            <a:ext cx="3520440" cy="77724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369503" y="5907024"/>
            <a:ext cx="201168" cy="201168"/>
          </a:xfrm>
          <a:prstGeom prst="ellipse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16975" y="5879592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Cross-State Consistency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16975" y="615391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0AFC8"/>
                </a:solidFill>
                <a:latin typeface="Calibri"/>
              </a:rPr>
              <a:t>Consistent predictions across cell states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56539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"AIVC learns both biological structure and how signals propagate through the system."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Multimodal Encoder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A0AFC8"/>
                </a:solidFill>
                <a:latin typeface="Calibri"/>
              </a:rPr>
              <a:t>Unifying complex multi-omics biology into actionable intelligence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00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6DDF9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618488"/>
            <a:ext cx="3291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✓ Today    ◆ Phase 1    ▲ Phase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009497" cy="4572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57984"/>
            <a:ext cx="100949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7865" y="2103120"/>
            <a:ext cx="1009497" cy="4572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7865" y="2157984"/>
            <a:ext cx="100949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Epigenetics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7091" y="2103120"/>
            <a:ext cx="1009497" cy="4572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7091" y="2157984"/>
            <a:ext cx="100949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Proteins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06316" y="2103120"/>
            <a:ext cx="1009497" cy="4572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6316" y="2157984"/>
            <a:ext cx="100949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Phosphoproteins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5542" y="2103120"/>
            <a:ext cx="1009497" cy="4572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5542" y="2157984"/>
            <a:ext cx="100949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VDJ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1258" y="3200400"/>
            <a:ext cx="4741164" cy="822960"/>
          </a:xfrm>
          <a:prstGeom prst="roundRect">
            <a:avLst>
              <a:gd name="adj" fmla="val 10000"/>
            </a:avLst>
          </a:prstGeom>
          <a:solidFill>
            <a:srgbClr val="8B5CF6">
              <a:alpha val="22000"/>
            </a:srgbClr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258" y="3310128"/>
            <a:ext cx="474116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Unified Multimodal Encoder</a:t>
            </a:r>
          </a:p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A0AFC8"/>
                </a:solidFill>
                <a:latin typeface="Calibri"/>
              </a:rPr>
              <a:t>256-dimensional latent representation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53388" y="2606039"/>
            <a:ext cx="0" cy="576073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72614" y="2606039"/>
            <a:ext cx="0" cy="576073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91839" y="2606039"/>
            <a:ext cx="0" cy="576073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11065" y="2606039"/>
            <a:ext cx="0" cy="576073"/>
          </a:xfrm>
          <a:prstGeom prst="line">
            <a:avLst/>
          </a:prstGeom>
          <a:ln w="127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30291" y="2606039"/>
            <a:ext cx="0" cy="576073"/>
          </a:xfrm>
          <a:prstGeom prst="line">
            <a:avLst/>
          </a:prstGeom>
          <a:ln w="127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8640" y="4480560"/>
            <a:ext cx="1719072" cy="502920"/>
          </a:xfrm>
          <a:prstGeom prst="roundRect">
            <a:avLst>
              <a:gd name="adj" fmla="val 16000"/>
            </a:avLst>
          </a:prstGeom>
          <a:noFill/>
          <a:ln w="15875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53712"/>
            <a:ext cx="17190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Biological State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32304" y="4480560"/>
            <a:ext cx="1719072" cy="502920"/>
          </a:xfrm>
          <a:prstGeom prst="roundRect">
            <a:avLst>
              <a:gd name="adj" fmla="val 16000"/>
            </a:avLst>
          </a:prstGeom>
          <a:noFill/>
          <a:ln w="15875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32304" y="4553712"/>
            <a:ext cx="17190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Perturbation Response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4480560"/>
            <a:ext cx="1719072" cy="502920"/>
          </a:xfrm>
          <a:prstGeom prst="roundRect">
            <a:avLst>
              <a:gd name="adj" fmla="val 16000"/>
            </a:avLst>
          </a:prstGeom>
          <a:noFill/>
          <a:ln w="15875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4553712"/>
            <a:ext cx="17190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Causal Inference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408176" y="4041648"/>
            <a:ext cx="0" cy="420624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291840" y="4041648"/>
            <a:ext cx="0" cy="420624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175504" y="4041648"/>
            <a:ext cx="0" cy="420624"/>
          </a:xfrm>
          <a:prstGeom prst="line">
            <a:avLst/>
          </a:prstGeom>
          <a:ln w="12700">
            <a:solidFill>
              <a:srgbClr val="26DDF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46520" y="160020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Calibri"/>
              </a:rPr>
              <a:t>VALUE TO PARTNERS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2103120"/>
            <a:ext cx="2514600" cy="189738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6675120" y="2304288"/>
            <a:ext cx="256032" cy="256032"/>
          </a:xfrm>
          <a:prstGeom prst="diamond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13448" y="230428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Drug Response Prediction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2743200"/>
            <a:ext cx="214884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FC8"/>
                </a:solidFill>
                <a:latin typeface="Calibri"/>
              </a:rPr>
              <a:t>Predict combination efficacy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9720" y="2103120"/>
            <a:ext cx="2514600" cy="189738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9418320" y="2304288"/>
            <a:ext cx="256032" cy="256032"/>
          </a:xfrm>
          <a:prstGeom prst="diamond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56648" y="230428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Biomarker Discovery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743200"/>
            <a:ext cx="214884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FC8"/>
                </a:solidFill>
                <a:latin typeface="Calibri"/>
              </a:rPr>
              <a:t>Identify patient stratification markers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4229100"/>
            <a:ext cx="2514600" cy="189738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iamond 42"/>
          <p:cNvSpPr/>
          <p:nvPr/>
        </p:nvSpPr>
        <p:spPr>
          <a:xfrm>
            <a:off x="6675120" y="4430268"/>
            <a:ext cx="256032" cy="256032"/>
          </a:xfrm>
          <a:prstGeom prst="diamond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13448" y="443026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Target Prioritization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869180"/>
            <a:ext cx="214884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FC8"/>
                </a:solidFill>
                <a:latin typeface="Calibri"/>
              </a:rPr>
              <a:t>Rank therapeutic targets by causal evidence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9720" y="4229100"/>
            <a:ext cx="2514600" cy="189738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iamond 46"/>
          <p:cNvSpPr/>
          <p:nvPr/>
        </p:nvSpPr>
        <p:spPr>
          <a:xfrm>
            <a:off x="9418320" y="4430268"/>
            <a:ext cx="256032" cy="256032"/>
          </a:xfrm>
          <a:prstGeom prst="diamond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56648" y="443026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Patient Stratification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4869180"/>
            <a:ext cx="214884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AFC8"/>
                </a:solidFill>
                <a:latin typeface="Calibri"/>
              </a:rPr>
              <a:t>Match patients to optimal interventions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A0AFC8"/>
                </a:solidFill>
                <a:latin typeface="Calibri"/>
              </a:rPr>
              <a:t>Designed to scale across datasets, perturbations, and therapeutic programs.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Roadmap &amp; Key Inflection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A0AFC8"/>
                </a:solidFill>
                <a:latin typeface="Calibri"/>
              </a:rPr>
              <a:t>Execution plan and platform value compounding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2743200"/>
            <a:ext cx="10911535" cy="0"/>
          </a:xfrm>
          <a:prstGeom prst="line">
            <a:avLst/>
          </a:prstGeom>
          <a:ln w="25400">
            <a:solidFill>
              <a:srgbClr val="2D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630649" y="2642616"/>
            <a:ext cx="201168" cy="201168"/>
          </a:xfrm>
          <a:prstGeom prst="ellipse">
            <a:avLst/>
          </a:prstGeom>
          <a:solidFill>
            <a:srgbClr val="26DDF9"/>
          </a:solidFill>
          <a:ln w="12700">
            <a:solidFill>
              <a:srgbClr val="26D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59" y="1874519"/>
            <a:ext cx="204514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Public Dataset Benchmarking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59" y="2377440"/>
            <a:ext cx="2045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6DDF9"/>
                </a:solidFill>
                <a:latin typeface="Calibri"/>
              </a:rPr>
              <a:t>2025 – 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59" y="3017520"/>
            <a:ext cx="20451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Validated encoder · 73% cross-corpus</a:t>
            </a:r>
          </a:p>
        </p:txBody>
      </p:sp>
      <p:sp>
        <p:nvSpPr>
          <p:cNvPr id="10" name="Oval 9"/>
          <p:cNvSpPr/>
          <p:nvPr/>
        </p:nvSpPr>
        <p:spPr>
          <a:xfrm>
            <a:off x="3812956" y="2642616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0967" y="1874519"/>
            <a:ext cx="204514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Phase 1 Perturbation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0967" y="2377440"/>
            <a:ext cx="2045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8B5CF6"/>
                </a:solidFill>
                <a:latin typeface="Calibri"/>
              </a:rP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0967" y="3017520"/>
            <a:ext cx="20451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Causal signal · BTK+JAK demo</a:t>
            </a:r>
          </a:p>
        </p:txBody>
      </p:sp>
      <p:sp>
        <p:nvSpPr>
          <p:cNvPr id="14" name="Oval 13"/>
          <p:cNvSpPr/>
          <p:nvPr/>
        </p:nvSpPr>
        <p:spPr>
          <a:xfrm>
            <a:off x="5995263" y="264261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3274" y="1874519"/>
            <a:ext cx="204514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Phase 2: CRISPR + Multimodal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3274" y="2377440"/>
            <a:ext cx="2045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3274" y="3017520"/>
            <a:ext cx="20451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5-modality scaling · 20–25 donors</a:t>
            </a:r>
          </a:p>
        </p:txBody>
      </p:sp>
      <p:sp>
        <p:nvSpPr>
          <p:cNvPr id="18" name="Oval 17"/>
          <p:cNvSpPr/>
          <p:nvPr/>
        </p:nvSpPr>
        <p:spPr>
          <a:xfrm>
            <a:off x="8177570" y="264261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5581" y="1874519"/>
            <a:ext cx="204514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Scaled Data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5581" y="2377440"/>
            <a:ext cx="2045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2027 – 2028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5581" y="3017520"/>
            <a:ext cx="20451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Cross-state reasoning</a:t>
            </a:r>
          </a:p>
        </p:txBody>
      </p:sp>
      <p:sp>
        <p:nvSpPr>
          <p:cNvPr id="22" name="Oval 21"/>
          <p:cNvSpPr/>
          <p:nvPr/>
        </p:nvSpPr>
        <p:spPr>
          <a:xfrm>
            <a:off x="10359877" y="2642616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7888" y="1874519"/>
            <a:ext cx="2045147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Therapeutic Discovery Apps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7888" y="2377440"/>
            <a:ext cx="2045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4ADE80"/>
                </a:solidFill>
                <a:latin typeface="Calibri"/>
              </a:rPr>
              <a:t>2028+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7888" y="3017520"/>
            <a:ext cx="20451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Discovery enablement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Calibri"/>
              </a:rPr>
              <a:t>KEY INFLECTION POINTS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983480"/>
            <a:ext cx="2090867" cy="11887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983480"/>
            <a:ext cx="2090867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1456913" y="5148072"/>
            <a:ext cx="182880" cy="182880"/>
          </a:xfrm>
          <a:prstGeom prst="diamond">
            <a:avLst/>
          </a:prstGeom>
          <a:solidFill>
            <a:srgbClr val="8B5CF6"/>
          </a:solidFill>
          <a:ln w="63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404104"/>
            <a:ext cx="19079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Proprietary Multimodal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852160"/>
            <a:ext cx="19079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Phase 1 lands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76667" y="4983480"/>
            <a:ext cx="2090867" cy="11887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76667" y="4983480"/>
            <a:ext cx="2090867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3730660" y="5148072"/>
            <a:ext cx="182880" cy="182880"/>
          </a:xfrm>
          <a:prstGeom prst="diamond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68107" y="5404104"/>
            <a:ext cx="19079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Perturbation-Scale Expansion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68107" y="5852160"/>
            <a:ext cx="19079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Phase 2 lands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50414" y="4983480"/>
            <a:ext cx="2090867" cy="11887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50414" y="4983480"/>
            <a:ext cx="2090867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6004407" y="5148072"/>
            <a:ext cx="182880" cy="182880"/>
          </a:xfrm>
          <a:prstGeom prst="diamond">
            <a:avLst/>
          </a:prstGeom>
          <a:solidFill>
            <a:srgbClr val="8B5CF6"/>
          </a:solidFill>
          <a:ln w="63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41854" y="5404104"/>
            <a:ext cx="19079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Causal 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41854" y="5852160"/>
            <a:ext cx="19079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Architecture milestone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24161" y="4983480"/>
            <a:ext cx="2090867" cy="11887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24161" y="4983480"/>
            <a:ext cx="2090867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iamond 43"/>
          <p:cNvSpPr/>
          <p:nvPr/>
        </p:nvSpPr>
        <p:spPr>
          <a:xfrm>
            <a:off x="8278154" y="5148072"/>
            <a:ext cx="182880" cy="182880"/>
          </a:xfrm>
          <a:prstGeom prst="diamond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15601" y="5404104"/>
            <a:ext cx="19079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Strategic Partnerships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15601" y="5852160"/>
            <a:ext cx="19079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Pipeline programs begin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97908" y="4983480"/>
            <a:ext cx="2090867" cy="11887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D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97908" y="4983480"/>
            <a:ext cx="2090867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iamond 48"/>
          <p:cNvSpPr/>
          <p:nvPr/>
        </p:nvSpPr>
        <p:spPr>
          <a:xfrm>
            <a:off x="10551901" y="5148072"/>
            <a:ext cx="182880" cy="182880"/>
          </a:xfrm>
          <a:prstGeom prst="diamond">
            <a:avLst/>
          </a:prstGeom>
          <a:solidFill>
            <a:srgbClr val="4ADE80"/>
          </a:solidFill>
          <a:ln w="63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89348" y="5404104"/>
            <a:ext cx="19079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Therapeutic Discovery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89348" y="5852160"/>
            <a:ext cx="19079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Platform productization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A0AFC8"/>
                </a:solidFill>
                <a:latin typeface="Calibri"/>
              </a:rPr>
              <a:t>"Platform value compounds through proprietary data, causal learning, and scalable multimodal biological intelligence."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