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75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AIVC Architecture — Technical walk-through (90-120s)</a:t>
            </a:r>
          </a:p>
          <a:p>
            <a:endParaRPr/>
          </a:p>
          <a:p>
            <a:r>
              <a:t>CORRECTION FRAMING (10s):</a:t>
            </a:r>
          </a:p>
          <a:p>
            <a:r>
              <a:t>"This is the architectural truth, not the temporal narrative. The</a:t>
            </a:r>
          </a:p>
          <a:p>
            <a:r>
              <a:t>phase-based view we use with investors is a presentation simplification.</a:t>
            </a:r>
          </a:p>
          <a:p>
            <a:r>
              <a:t>Internally, AIVC is three co-existing reasoning systems operating over</a:t>
            </a:r>
          </a:p>
          <a:p>
            <a:r>
              <a:t>one shared biological state space."</a:t>
            </a:r>
          </a:p>
          <a:p>
            <a:endParaRPr/>
          </a:p>
          <a:p>
            <a:r>
              <a:t>TOP — SHARED STATE (15s):</a:t>
            </a:r>
          </a:p>
          <a:p>
            <a:r>
              <a:t>"At the foundation: a single learned latent representation of biological</a:t>
            </a:r>
          </a:p>
          <a:p>
            <a:r>
              <a:t>state — z, a 256-dimensional vector, produced by our multi-omics encoder.</a:t>
            </a:r>
          </a:p>
          <a:p>
            <a:r>
              <a:t>Every reasoning system reads from and writes to the same state space.</a:t>
            </a:r>
          </a:p>
          <a:p>
            <a:r>
              <a:t>This is the single most important architectural decision in the platform —</a:t>
            </a:r>
          </a:p>
          <a:p>
            <a:r>
              <a:t>it's what makes the three modules ONE platform instead of three products."</a:t>
            </a:r>
          </a:p>
          <a:p>
            <a:endParaRPr/>
          </a:p>
          <a:p>
            <a:r>
              <a:t>THREE MODULES (40s):</a:t>
            </a:r>
          </a:p>
          <a:p>
            <a:r>
              <a:t>"On top of that state, three complementary reasoning systems run in parallel.</a:t>
            </a:r>
          </a:p>
          <a:p>
            <a:endParaRPr/>
          </a:p>
          <a:p>
            <a:r>
              <a:t>GeneLink is the DATA-DRIVEN module — learns biological relationships and</a:t>
            </a:r>
          </a:p>
          <a:p>
            <a:r>
              <a:t>causal structure from perturbation data. Answers 'what relationships exist.'</a:t>
            </a:r>
          </a:p>
          <a:p>
            <a:endParaRPr/>
          </a:p>
          <a:p>
            <a:r>
              <a:t>Mechanica is the PHYSICS-DRIVEN module — mechanistic simulation under</a:t>
            </a:r>
          </a:p>
          <a:p>
            <a:r>
              <a:t>physics priors. Dynamics, kinetics, resistance evolution, combination</a:t>
            </a:r>
          </a:p>
          <a:p>
            <a:r>
              <a:t>effects. Answers 'what happens when we perturb over time.'</a:t>
            </a:r>
          </a:p>
          <a:p>
            <a:endParaRPr/>
          </a:p>
          <a:p>
            <a:r>
              <a:t>PhysioMap is the PHENOTYPE-DRIVEN module — observable phenotype mapping,</a:t>
            </a:r>
          </a:p>
          <a:p>
            <a:r>
              <a:t>cell-state inference from morphology and image-derived signals. Answers</a:t>
            </a:r>
          </a:p>
          <a:p>
            <a:r>
              <a:t>'what is the observable cell state right now.'</a:t>
            </a:r>
          </a:p>
          <a:p>
            <a:endParaRPr/>
          </a:p>
          <a:p>
            <a:r>
              <a:t>Each operates on the same z but with a different reasoning bias. They</a:t>
            </a:r>
          </a:p>
          <a:p>
            <a:r>
              <a:t>are complementary, not redundant. None subsumes the others."</a:t>
            </a:r>
          </a:p>
          <a:p>
            <a:endParaRPr/>
          </a:p>
          <a:p>
            <a:r>
              <a:t>BOTTOM — TWIN LAYER (20s):</a:t>
            </a:r>
          </a:p>
          <a:p>
            <a:r>
              <a:t>"All three feed into the Digital Cell / Tissue Twin Layer. The twin layer</a:t>
            </a:r>
          </a:p>
          <a:p>
            <a:r>
              <a:t>is the COMPOSITION of the three reasoning modes. A digital cell query —</a:t>
            </a:r>
          </a:p>
          <a:p>
            <a:r>
              <a:t>'how does this patient's cell respond to this combination at 48 hours' —</a:t>
            </a:r>
          </a:p>
          <a:p>
            <a:r>
              <a:t>routes through whichever module(s) have the best inference for that</a:t>
            </a:r>
          </a:p>
          <a:p>
            <a:r>
              <a:t>specific question, with the others providing constraints or priors.</a:t>
            </a:r>
          </a:p>
          <a:p>
            <a:endParaRPr/>
          </a:p>
          <a:p>
            <a:r>
              <a:t>This is what powers predictions, virtual perturbation experiments, and</a:t>
            </a:r>
          </a:p>
          <a:p>
            <a:r>
              <a:t>ultimately digital tissue twins."</a:t>
            </a:r>
          </a:p>
          <a:p>
            <a:endParaRPr/>
          </a:p>
          <a:p>
            <a:r>
              <a:t>EXPECTED DILIGENCE QUESTIONS:</a:t>
            </a:r>
          </a:p>
          <a:p>
            <a:endParaRPr/>
          </a:p>
          <a:p>
            <a:r>
              <a:t>Q: "Doesn't 3 modules over 1 state mean they're really one entangled model?"</a:t>
            </a:r>
          </a:p>
          <a:p>
            <a:r>
              <a:t>A: They share the input space (z), not the parameters or the reasoning</a:t>
            </a:r>
          </a:p>
          <a:p>
            <a:r>
              <a:t>architecture. Modules can be trained, validated, and shipped</a:t>
            </a:r>
          </a:p>
          <a:p>
            <a:r>
              <a:t>independently. Composition happens at the query layer, not the training</a:t>
            </a:r>
          </a:p>
          <a:p>
            <a:r>
              <a:t>layer.</a:t>
            </a:r>
          </a:p>
          <a:p>
            <a:endParaRPr/>
          </a:p>
          <a:p>
            <a:r>
              <a:t>Q: "Which module owns 'causality'?"</a:t>
            </a:r>
          </a:p>
          <a:p>
            <a:r>
              <a:t>A: GeneLink learns causal structure from observed perturbations</a:t>
            </a:r>
          </a:p>
          <a:p>
            <a:r>
              <a:t>(data-driven causality). Mechanica imposes mechanistic causality from</a:t>
            </a:r>
          </a:p>
          <a:p>
            <a:r>
              <a:t>physics priors. They are two different routes to causal inference —</a:t>
            </a:r>
          </a:p>
          <a:p>
            <a:r>
              <a:t>both legitimate, each with different generalization properties.</a:t>
            </a:r>
          </a:p>
          <a:p>
            <a:endParaRPr/>
          </a:p>
          <a:p>
            <a:r>
              <a:t>Q: "When does PhysioMap ship?"</a:t>
            </a:r>
          </a:p>
          <a:p>
            <a:r>
              <a:t>A: PhysioMap is the imaging/morphology arm. Roadmap depends on imaging</a:t>
            </a:r>
          </a:p>
          <a:p>
            <a:r>
              <a:t>data acquisition timeline. Mechanica is the immediate Phase 2 deliverable;</a:t>
            </a:r>
          </a:p>
          <a:p>
            <a:r>
              <a:t>PhysioMap follows.</a:t>
            </a:r>
          </a:p>
          <a:p>
            <a:endParaRPr/>
          </a:p>
          <a:p>
            <a:r>
              <a:t>Q: "How do you avoid scope explosion across 3 modules?"</a:t>
            </a:r>
          </a:p>
          <a:p>
            <a:r>
              <a:t>A: Single shared latent state space is the discipline. If any module</a:t>
            </a:r>
          </a:p>
          <a:p>
            <a:r>
              <a:t>proposes a separate state representation, that's the trip-wire — we</a:t>
            </a:r>
          </a:p>
          <a:p>
            <a:r>
              <a:t>collapse it before it ships.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AIVC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A0AFC8"/>
                </a:solidFill>
                <a:latin typeface="Calibri"/>
              </a:rPr>
              <a:t>Three co-existing reasoning systems over one shared biological state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809847" y="1783080"/>
            <a:ext cx="4572000" cy="82296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09847" y="1901952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Shared Latent Biological State</a:t>
            </a:r>
          </a:p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26DDF9"/>
                </a:solidFill>
                <a:latin typeface="Calibri"/>
              </a:rPr>
              <a:t>z ∈ ℝ²⁵⁶  ·  multi-omics encoder output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7" y="2606040"/>
            <a:ext cx="0" cy="274320"/>
          </a:xfrm>
          <a:prstGeom prst="line">
            <a:avLst/>
          </a:prstGeom>
          <a:ln w="19050">
            <a:solidFill>
              <a:srgbClr val="A0A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17420" y="2880360"/>
            <a:ext cx="7726680" cy="0"/>
          </a:xfrm>
          <a:prstGeom prst="line">
            <a:avLst/>
          </a:prstGeom>
          <a:ln w="19050">
            <a:solidFill>
              <a:srgbClr val="A0A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17420" y="2880360"/>
            <a:ext cx="0" cy="228600"/>
          </a:xfrm>
          <a:prstGeom prst="line">
            <a:avLst/>
          </a:prstGeom>
          <a:ln w="19050">
            <a:solidFill>
              <a:srgbClr val="A0AF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03620" y="2880360"/>
            <a:ext cx="0" cy="228600"/>
          </a:xfrm>
          <a:prstGeom prst="line">
            <a:avLst/>
          </a:prstGeom>
          <a:ln w="19050">
            <a:solidFill>
              <a:srgbClr val="A0AF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944100" y="2880360"/>
            <a:ext cx="0" cy="228600"/>
          </a:xfrm>
          <a:prstGeom prst="line">
            <a:avLst/>
          </a:prstGeom>
          <a:ln w="19050">
            <a:solidFill>
              <a:srgbClr val="A0AF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3200400"/>
            <a:ext cx="3337560" cy="16002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364992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i="0" dirty="0">
                <a:solidFill>
                  <a:srgbClr val="26DDF9"/>
                </a:solidFill>
                <a:latin typeface="Calibri"/>
              </a:rPr>
              <a:t>AIVC </a:t>
            </a:r>
            <a:endParaRPr sz="2400" b="1" i="0" dirty="0">
              <a:solidFill>
                <a:srgbClr val="26DDF9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A0AFC8"/>
                </a:solidFill>
                <a:latin typeface="Calibri"/>
              </a:rPr>
              <a:t>data-driven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3154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Learned biological relationships</a:t>
            </a:r>
          </a:p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Causal structure from perturbation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200400"/>
            <a:ext cx="3337560" cy="16002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3364992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B5CF6"/>
                </a:solidFill>
                <a:latin typeface="Calibri"/>
              </a:rPr>
              <a:t>Mechanica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794760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A0AFC8"/>
                </a:solidFill>
                <a:latin typeface="Calibri"/>
              </a:rPr>
              <a:t>physics-driven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4160520"/>
            <a:ext cx="3154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Mechanistic simulation</a:t>
            </a:r>
          </a:p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Dynamics · kinetics · 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200400"/>
            <a:ext cx="3337560" cy="16002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3364992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59E0B"/>
                </a:solidFill>
                <a:latin typeface="Calibri"/>
              </a:rPr>
              <a:t>PhysioMap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794760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A0AFC8"/>
                </a:solidFill>
                <a:latin typeface="Calibri"/>
              </a:rPr>
              <a:t>phenotype-driven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160520"/>
            <a:ext cx="31546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Observable phenotype mapping</a:t>
            </a:r>
          </a:p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Cell-state inference from morphology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17420" y="4800600"/>
            <a:ext cx="0" cy="274320"/>
          </a:xfrm>
          <a:prstGeom prst="line">
            <a:avLst/>
          </a:prstGeom>
          <a:ln w="19050">
            <a:solidFill>
              <a:srgbClr val="A0A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03620" y="4800600"/>
            <a:ext cx="0" cy="274320"/>
          </a:xfrm>
          <a:prstGeom prst="line">
            <a:avLst/>
          </a:prstGeom>
          <a:ln w="19050">
            <a:solidFill>
              <a:srgbClr val="A0A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44100" y="4800600"/>
            <a:ext cx="0" cy="274320"/>
          </a:xfrm>
          <a:prstGeom prst="line">
            <a:avLst/>
          </a:prstGeom>
          <a:ln w="19050">
            <a:solidFill>
              <a:srgbClr val="A0A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217420" y="5074920"/>
            <a:ext cx="7726680" cy="0"/>
          </a:xfrm>
          <a:prstGeom prst="line">
            <a:avLst/>
          </a:prstGeom>
          <a:ln w="19050">
            <a:solidFill>
              <a:srgbClr val="A0A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5847" y="5074920"/>
            <a:ext cx="0" cy="274320"/>
          </a:xfrm>
          <a:prstGeom prst="line">
            <a:avLst/>
          </a:prstGeom>
          <a:ln w="22225">
            <a:solidFill>
              <a:srgbClr val="A0AF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752447" y="5349240"/>
            <a:ext cx="8686800" cy="100584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52447" y="5513831"/>
            <a:ext cx="86868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Digital Cell  /  Tissue Twin Layer</a:t>
            </a:r>
          </a:p>
          <a:p>
            <a:pPr algn="ctr">
              <a:lnSpc>
                <a:spcPct val="130000"/>
              </a:lnSpc>
            </a:pPr>
            <a:r>
              <a:rPr sz="1300" b="0" i="1">
                <a:solidFill>
                  <a:srgbClr val="4ADE80"/>
                </a:solidFill>
                <a:latin typeface="Calibri"/>
              </a:rPr>
              <a:t>Predictions  ·  Virtual perturbation experiments  ·  Digital twins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6539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1">
                <a:solidFill>
                  <a:srgbClr val="607088"/>
                </a:solidFill>
                <a:latin typeface="Calibri"/>
              </a:rPr>
              <a:t>These are co-existing reasoning systems, not sequential phases.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604</Words>
  <Application>Microsoft Macintosh PowerPoint</Application>
  <PresentationFormat>Widescreen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 Khan</cp:lastModifiedBy>
  <cp:revision>2</cp:revision>
  <dcterms:created xsi:type="dcterms:W3CDTF">2013-01-27T09:14:16Z</dcterms:created>
  <dcterms:modified xsi:type="dcterms:W3CDTF">2026-05-31T22:55:21Z</dcterms:modified>
  <cp:category/>
</cp:coreProperties>
</file>